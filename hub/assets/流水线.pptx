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3"/>
    <p:sldId id="259" r:id="rId5"/>
    <p:sldId id="260" r:id="rId6"/>
    <p:sldId id="261" r:id="rId7"/>
    <p:sldId id="257" r:id="rId8"/>
    <p:sldId id="258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五层结构说明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第一层 · </a:t>
            </a:r>
            <a:r>
              <a:rPr lang="en-US" altLang="zh-CN"/>
              <a:t>Web </a:t>
            </a:r>
            <a:r>
              <a:rPr lang="zh-CN" altLang="en-US"/>
              <a:t>控制台:用户唯一直接接触的界面,</a:t>
            </a:r>
            <a:r>
              <a:rPr lang="en-US" altLang="zh-CN"/>
              <a:t>Vue3 </a:t>
            </a:r>
            <a:r>
              <a:rPr lang="zh-CN" altLang="en-US"/>
              <a:t>做流水线可视化编排、审批操作、发布状态查看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第二层 · 控制平面:平台的"大脑",不直接碰任何具体的 </a:t>
            </a:r>
            <a:r>
              <a:rPr lang="en-US" altLang="zh-CN"/>
              <a:t>K8s </a:t>
            </a:r>
            <a:r>
              <a:rPr lang="zh-CN" altLang="en-US"/>
              <a:t>集群,只做业务决策——谁能操作什么(权限)、流水线定义是什么(编排)、能不能继续往下走(审批)、这个环境该发到哪个集群(路由)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第三层 · 长连接网关:控制平面和各集群之间唯一的通信纽带,所有集群的 </a:t>
            </a:r>
            <a:r>
              <a:rPr lang="en-US" altLang="zh-CN"/>
              <a:t>Agent </a:t>
            </a:r>
            <a:r>
              <a:rPr lang="zh-CN" altLang="en-US"/>
              <a:t>都主动连过来,网关做连接管理、消息路由、断线重连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第四层 · 集群接入层:真正跑在每个目标 </a:t>
            </a:r>
            <a:r>
              <a:rPr lang="en-US" altLang="zh-CN"/>
              <a:t>K8s </a:t>
            </a:r>
            <a:r>
              <a:rPr lang="zh-CN" altLang="en-US"/>
              <a:t>集群里的组件,</a:t>
            </a:r>
            <a:r>
              <a:rPr lang="en-US" altLang="zh-CN"/>
              <a:t>Agent </a:t>
            </a:r>
            <a:r>
              <a:rPr lang="zh-CN" altLang="en-US"/>
              <a:t>负责通信,</a:t>
            </a:r>
            <a:r>
              <a:rPr lang="en-US" altLang="zh-CN"/>
              <a:t>Operator </a:t>
            </a:r>
            <a:r>
              <a:rPr lang="zh-CN" altLang="en-US"/>
              <a:t>负责把控制平面下发的意图(</a:t>
            </a:r>
            <a:r>
              <a:rPr lang="en-US" altLang="zh-CN"/>
              <a:t>CR)</a:t>
            </a:r>
            <a:r>
              <a:rPr lang="zh-CN" altLang="en-US"/>
              <a:t>转化为实际动作,</a:t>
            </a:r>
            <a:r>
              <a:rPr lang="en-US" altLang="zh-CN"/>
              <a:t>CRD </a:t>
            </a:r>
            <a:r>
              <a:rPr lang="zh-CN" altLang="en-US"/>
              <a:t>作为声明式的"期望状态"存储在该集群的 </a:t>
            </a:r>
            <a:r>
              <a:rPr lang="en-US" altLang="zh-CN"/>
              <a:t>etcd </a:t>
            </a:r>
            <a:r>
              <a:rPr lang="zh-CN" altLang="en-US"/>
              <a:t>里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第五层 · </a:t>
            </a:r>
            <a:r>
              <a:rPr lang="en-US" altLang="zh-CN"/>
              <a:t>K8s </a:t>
            </a:r>
            <a:r>
              <a:rPr lang="zh-CN" altLang="en-US"/>
              <a:t>基础设施:底层真实资源,不管是阿里云、腾讯云、</a:t>
            </a:r>
            <a:r>
              <a:rPr lang="en-US" altLang="zh-CN"/>
              <a:t>AWS </a:t>
            </a:r>
            <a:r>
              <a:rPr lang="zh-CN" altLang="en-US"/>
              <a:t>还是自建,只要跑着一个第四层的 </a:t>
            </a:r>
            <a:r>
              <a:rPr lang="en-US" altLang="zh-CN"/>
              <a:t>Agent+Operator,</a:t>
            </a:r>
            <a:r>
              <a:rPr lang="zh-CN" altLang="en-US"/>
              <a:t>就能被纳管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这张图的核心设计原则是:层与层之间职责单向依赖、状态通过声明式 </a:t>
            </a:r>
            <a:r>
              <a:rPr lang="en-US" altLang="zh-CN"/>
              <a:t>CRD </a:t>
            </a:r>
            <a:r>
              <a:rPr lang="zh-CN" altLang="en-US"/>
              <a:t>解耦,不管未来接入多少家厂商、多少个 </a:t>
            </a:r>
            <a:r>
              <a:rPr lang="en-US" altLang="zh-CN"/>
              <a:t>region,</a:t>
            </a:r>
            <a:r>
              <a:rPr lang="zh-CN" altLang="en-US"/>
              <a:t>第一到第三层完全不用变,只需要在新集群里部署第四层组件即可接入。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现在(多厂商多</a:t>
            </a:r>
            <a:r>
              <a:rPr lang="en-US" altLang="zh-CN"/>
              <a:t>region):</a:t>
            </a:r>
            <a:r>
              <a:rPr lang="zh-CN" altLang="en-US"/>
              <a:t>每个目标集群里部署一个轻量 </a:t>
            </a:r>
            <a:r>
              <a:rPr lang="en-US" altLang="zh-CN"/>
              <a:t>Agent(Go </a:t>
            </a:r>
            <a:r>
              <a:rPr lang="zh-CN" altLang="en-US"/>
              <a:t>编写,以 </a:t>
            </a:r>
            <a:r>
              <a:rPr lang="en-US" altLang="zh-CN"/>
              <a:t>Deployment </a:t>
            </a:r>
            <a:r>
              <a:rPr lang="zh-CN" altLang="en-US"/>
              <a:t>形式跑在集群内,用自己的 </a:t>
            </a:r>
            <a:r>
              <a:rPr lang="en-US" altLang="zh-CN"/>
              <a:t>ServiceAccount),Agent </a:t>
            </a:r>
            <a:r>
              <a:rPr lang="zh-CN" altLang="en-US"/>
              <a:t>主动发起 </a:t>
            </a:r>
            <a:r>
              <a:rPr lang="en-US" altLang="zh-CN"/>
              <a:t>outbound </a:t>
            </a:r>
            <a:r>
              <a:rPr lang="zh-CN" altLang="en-US"/>
              <a:t>长连接(</a:t>
            </a:r>
            <a:r>
              <a:rPr lang="en-US" altLang="zh-CN"/>
              <a:t>gRPC </a:t>
            </a:r>
            <a:r>
              <a:rPr lang="zh-CN" altLang="en-US"/>
              <a:t>双向流或 </a:t>
            </a:r>
            <a:r>
              <a:rPr lang="en-US" altLang="zh-CN"/>
              <a:t>WebSocket)</a:t>
            </a:r>
            <a:r>
              <a:rPr lang="zh-CN" altLang="en-US"/>
              <a:t>连回控制平面 </a:t>
            </a:r>
            <a:r>
              <a:rPr lang="en-US" altLang="zh-CN"/>
              <a:t>Hub。</a:t>
            </a:r>
            <a:r>
              <a:rPr lang="zh-CN" altLang="en-US"/>
              <a:t>这样带来几个好处: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不需要对外暴露各集群的 </a:t>
            </a:r>
            <a:r>
              <a:rPr lang="en-US" altLang="zh-CN"/>
              <a:t>K8s API Server,</a:t>
            </a:r>
            <a:r>
              <a:rPr lang="zh-CN" altLang="en-US"/>
              <a:t>不用打通复杂的 </a:t>
            </a:r>
            <a:r>
              <a:rPr lang="en-US" altLang="zh-CN"/>
              <a:t>VPN/</a:t>
            </a:r>
            <a:r>
              <a:rPr lang="zh-CN" altLang="en-US"/>
              <a:t>专线,只要 </a:t>
            </a:r>
            <a:r>
              <a:rPr lang="en-US" altLang="zh-CN"/>
              <a:t>Agent </a:t>
            </a:r>
            <a:r>
              <a:rPr lang="zh-CN" altLang="en-US"/>
              <a:t>能访问到 </a:t>
            </a:r>
            <a:r>
              <a:rPr lang="en-US" altLang="zh-CN"/>
              <a:t>Hub </a:t>
            </a:r>
            <a:r>
              <a:rPr lang="zh-CN" altLang="en-US"/>
              <a:t>的公网地址即可</a:t>
            </a:r>
            <a:endParaRPr lang="zh-CN" altLang="en-US"/>
          </a:p>
          <a:p>
            <a:r>
              <a:rPr lang="zh-CN" altLang="en-US"/>
              <a:t>不需要在控制平面集中存储各厂商集群的 </a:t>
            </a:r>
            <a:r>
              <a:rPr lang="en-US" altLang="zh-CN"/>
              <a:t>kubeconfig/</a:t>
            </a:r>
            <a:r>
              <a:rPr lang="zh-CN" altLang="en-US"/>
              <a:t>证书(安全风险大,而且不同厂商证书轮换机制不同),</a:t>
            </a:r>
            <a:r>
              <a:rPr lang="en-US" altLang="zh-CN"/>
              <a:t>Agent </a:t>
            </a:r>
            <a:r>
              <a:rPr lang="zh-CN" altLang="en-US"/>
              <a:t>用本地 </a:t>
            </a:r>
            <a:r>
              <a:rPr lang="en-US" altLang="zh-CN"/>
              <a:t>InCluster </a:t>
            </a:r>
            <a:r>
              <a:rPr lang="zh-CN" altLang="en-US"/>
              <a:t>权限即可</a:t>
            </a:r>
            <a:endParaRPr lang="zh-CN" altLang="en-US"/>
          </a:p>
          <a:p>
            <a:r>
              <a:rPr lang="zh-CN" altLang="en-US"/>
              <a:t>类似 </a:t>
            </a:r>
            <a:r>
              <a:rPr lang="en-US" altLang="zh-CN"/>
              <a:t>Argo CD </a:t>
            </a:r>
            <a:r>
              <a:rPr lang="zh-CN" altLang="en-US"/>
              <a:t>的 </a:t>
            </a:r>
            <a:r>
              <a:rPr lang="en-US" altLang="zh-CN"/>
              <a:t>application-controller、Rancher </a:t>
            </a:r>
            <a:r>
              <a:rPr lang="zh-CN" altLang="en-US"/>
              <a:t>的 </a:t>
            </a:r>
            <a:r>
              <a:rPr lang="en-US" altLang="zh-CN"/>
              <a:t>cluster-agent,</a:t>
            </a:r>
            <a:r>
              <a:rPr lang="zh-CN" altLang="en-US"/>
              <a:t>是多集群管理的标准范式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数据模型扩展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新增/调整几张表: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clusters:id, name, vendor(</a:t>
            </a:r>
            <a:r>
              <a:rPr lang="zh-CN" altLang="en-US"/>
              <a:t>阿里云/腾讯云/</a:t>
            </a:r>
            <a:r>
              <a:rPr lang="en-US" altLang="zh-CN"/>
              <a:t>AWS/</a:t>
            </a:r>
            <a:r>
              <a:rPr lang="zh-CN" altLang="en-US"/>
              <a:t>自建...), </a:t>
            </a:r>
            <a:r>
              <a:rPr lang="en-US" altLang="zh-CN"/>
              <a:t>region, status(online/offline), agent_version, last_heartbeat</a:t>
            </a:r>
            <a:endParaRPr lang="en-US" altLang="zh-CN"/>
          </a:p>
          <a:p>
            <a:r>
              <a:rPr lang="en-US" altLang="zh-CN"/>
              <a:t>environments:</a:t>
            </a:r>
            <a:r>
              <a:rPr lang="zh-CN" altLang="en-US"/>
              <a:t>增加 </a:t>
            </a:r>
            <a:r>
              <a:rPr lang="en-US" altLang="zh-CN"/>
              <a:t>cluster_id </a:t>
            </a:r>
            <a:r>
              <a:rPr lang="zh-CN" altLang="en-US"/>
              <a:t>字段(甚至支持一个环境对应多个 </a:t>
            </a:r>
            <a:r>
              <a:rPr lang="en-US" altLang="zh-CN"/>
              <a:t>cluster_id,</a:t>
            </a:r>
            <a:r>
              <a:rPr lang="zh-CN" altLang="en-US"/>
              <a:t>用于同环境异地多活部署)</a:t>
            </a:r>
            <a:endParaRPr lang="zh-CN" altLang="en-US"/>
          </a:p>
          <a:p>
            <a:r>
              <a:rPr lang="en-US" altLang="zh-CN"/>
              <a:t>agent_tokens:</a:t>
            </a:r>
            <a:r>
              <a:rPr lang="zh-CN" altLang="en-US"/>
              <a:t>每个集群 </a:t>
            </a:r>
            <a:r>
              <a:rPr lang="en-US" altLang="zh-CN"/>
              <a:t>Agent </a:t>
            </a:r>
            <a:r>
              <a:rPr lang="zh-CN" altLang="en-US"/>
              <a:t>注册时颁发的认证凭据(建议短期 </a:t>
            </a:r>
            <a:r>
              <a:rPr lang="en-US" altLang="zh-CN"/>
              <a:t>token + </a:t>
            </a:r>
            <a:r>
              <a:rPr lang="zh-CN" altLang="en-US"/>
              <a:t>定期轮换,而不是长期密钥)</a:t>
            </a:r>
            <a:endParaRPr lang="zh-CN" altLang="en-US"/>
          </a:p>
          <a:p>
            <a:r>
              <a:rPr lang="en-US" altLang="zh-CN"/>
              <a:t>Hub </a:t>
            </a:r>
            <a:r>
              <a:rPr lang="zh-CN" altLang="en-US"/>
              <a:t>与 </a:t>
            </a:r>
            <a:r>
              <a:rPr lang="en-US" altLang="zh-CN"/>
              <a:t>Agent </a:t>
            </a:r>
            <a:r>
              <a:rPr lang="zh-CN" altLang="en-US"/>
              <a:t>的职责划分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Hub(</a:t>
            </a:r>
            <a:r>
              <a:rPr lang="zh-CN" altLang="en-US"/>
              <a:t>控制平面):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维护集群注册表和健康状态(心跳超时判定离线)</a:t>
            </a:r>
            <a:endParaRPr lang="zh-CN" altLang="en-US"/>
          </a:p>
          <a:p>
            <a:r>
              <a:rPr lang="en-US" altLang="zh-CN"/>
              <a:t>DAG </a:t>
            </a:r>
            <a:r>
              <a:rPr lang="zh-CN" altLang="en-US"/>
              <a:t>调度到"部署"节点时,根据该 </a:t>
            </a:r>
            <a:r>
              <a:rPr lang="en-US" altLang="zh-CN"/>
              <a:t>Pipeline </a:t>
            </a:r>
            <a:r>
              <a:rPr lang="zh-CN" altLang="en-US"/>
              <a:t>绑定的 </a:t>
            </a:r>
            <a:r>
              <a:rPr lang="en-US" altLang="zh-CN"/>
              <a:t>environment → cluster_id </a:t>
            </a:r>
            <a:r>
              <a:rPr lang="zh-CN" altLang="en-US"/>
              <a:t>找到目标集群,把任务(</a:t>
            </a:r>
            <a:r>
              <a:rPr lang="en-US" altLang="zh-CN"/>
              <a:t>Job spec)</a:t>
            </a:r>
            <a:r>
              <a:rPr lang="zh-CN" altLang="en-US"/>
              <a:t>通过已建立的长连接推给对应 </a:t>
            </a:r>
            <a:r>
              <a:rPr lang="en-US" altLang="zh-CN"/>
              <a:t>Agent</a:t>
            </a:r>
            <a:endParaRPr lang="en-US" altLang="zh-CN"/>
          </a:p>
          <a:p>
            <a:r>
              <a:rPr lang="zh-CN" altLang="en-US"/>
              <a:t>汇总多集群的执行状态和日志流,统一在前端展示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Agent(</a:t>
            </a:r>
            <a:r>
              <a:rPr lang="zh-CN" altLang="en-US"/>
              <a:t>每集群一个):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只做"哑执行器":接收 </a:t>
            </a:r>
            <a:r>
              <a:rPr lang="en-US" altLang="zh-CN"/>
              <a:t>Hub </a:t>
            </a:r>
            <a:r>
              <a:rPr lang="zh-CN" altLang="en-US"/>
              <a:t>下发的 </a:t>
            </a:r>
            <a:r>
              <a:rPr lang="en-US" altLang="zh-CN"/>
              <a:t>Job/Deployment/</a:t>
            </a:r>
            <a:r>
              <a:rPr lang="zh-CN" altLang="en-US"/>
              <a:t>灰度指令 → 在本地集群用 </a:t>
            </a:r>
            <a:r>
              <a:rPr lang="en-US" altLang="zh-CN"/>
              <a:t>InCluster client-go </a:t>
            </a:r>
            <a:r>
              <a:rPr lang="zh-CN" altLang="en-US"/>
              <a:t>执行 → 把状态和日志实时回传</a:t>
            </a:r>
            <a:endParaRPr lang="zh-CN" altLang="en-US"/>
          </a:p>
          <a:p>
            <a:r>
              <a:rPr lang="zh-CN" altLang="en-US"/>
              <a:t>不需要理解业务逻辑(</a:t>
            </a:r>
            <a:r>
              <a:rPr lang="en-US" altLang="zh-CN"/>
              <a:t>DAG、</a:t>
            </a:r>
            <a:r>
              <a:rPr lang="zh-CN" altLang="en-US"/>
              <a:t>审批、租户),保持轻量,方便适配不同厂商的 </a:t>
            </a:r>
            <a:r>
              <a:rPr lang="en-US" altLang="zh-CN"/>
              <a:t>K8s </a:t>
            </a:r>
            <a:r>
              <a:rPr lang="zh-CN" altLang="en-US"/>
              <a:t>发行版差异(比如某些厂商托管集群对某些 </a:t>
            </a:r>
            <a:r>
              <a:rPr lang="en-US" altLang="zh-CN"/>
              <a:t>API </a:t>
            </a:r>
            <a:r>
              <a:rPr lang="zh-CN" altLang="en-US"/>
              <a:t>有限制)</a:t>
            </a:r>
            <a:endParaRPr lang="zh-CN" altLang="en-US"/>
          </a:p>
          <a:p>
            <a:r>
              <a:rPr lang="zh-CN" altLang="en-US"/>
              <a:t>需要提前考虑的几个坑</a:t>
            </a:r>
            <a:endParaRPr lang="zh-CN" altLang="en-US"/>
          </a:p>
          <a:p>
            <a:r>
              <a:rPr lang="en-US" altLang="zh-CN"/>
              <a:t>Agent </a:t>
            </a:r>
            <a:r>
              <a:rPr lang="zh-CN" altLang="en-US"/>
              <a:t>断线重连与任务幂等:长连接会断(网络抖动、</a:t>
            </a:r>
            <a:r>
              <a:rPr lang="en-US" altLang="zh-CN"/>
              <a:t>Agent</a:t>
            </a:r>
            <a:r>
              <a:rPr lang="zh-CN" altLang="en-US"/>
              <a:t>重启),</a:t>
            </a:r>
            <a:r>
              <a:rPr lang="en-US" altLang="zh-CN"/>
              <a:t>Hub </a:t>
            </a:r>
            <a:r>
              <a:rPr lang="zh-CN" altLang="en-US"/>
              <a:t>下发的任务要带唯一 </a:t>
            </a:r>
            <a:r>
              <a:rPr lang="en-US" altLang="zh-CN"/>
              <a:t>ID,Agent </a:t>
            </a:r>
            <a:r>
              <a:rPr lang="zh-CN" altLang="en-US"/>
              <a:t>重连后能够对账"哪些任务还没执行完",避免重复创建 </a:t>
            </a:r>
            <a:r>
              <a:rPr lang="en-US" altLang="zh-CN"/>
              <a:t>Job</a:t>
            </a:r>
            <a:endParaRPr lang="en-US" altLang="zh-CN"/>
          </a:p>
          <a:p>
            <a:r>
              <a:rPr lang="zh-CN" altLang="en-US"/>
              <a:t>跨 </a:t>
            </a:r>
            <a:r>
              <a:rPr lang="en-US" altLang="zh-CN"/>
              <a:t>region </a:t>
            </a:r>
            <a:r>
              <a:rPr lang="zh-CN" altLang="en-US"/>
              <a:t>的灰度流量调度:单集群内的 </a:t>
            </a:r>
            <a:r>
              <a:rPr lang="en-US" altLang="zh-CN"/>
              <a:t>canary(</a:t>
            </a:r>
            <a:r>
              <a:rPr lang="zh-CN" altLang="en-US"/>
              <a:t>权重路由)方案能解决集群内流量,但如果要做"跨 </a:t>
            </a:r>
            <a:r>
              <a:rPr lang="en-US" altLang="zh-CN"/>
              <a:t>region </a:t>
            </a:r>
            <a:r>
              <a:rPr lang="zh-CN" altLang="en-US"/>
              <a:t>流量调度"(比如按用户地理位置分流到不同 </a:t>
            </a:r>
            <a:r>
              <a:rPr lang="en-US" altLang="zh-CN"/>
              <a:t>region),</a:t>
            </a:r>
            <a:r>
              <a:rPr lang="zh-CN" altLang="en-US"/>
              <a:t>这已经超出单个 </a:t>
            </a:r>
            <a:r>
              <a:rPr lang="en-US" altLang="zh-CN"/>
              <a:t>K8s </a:t>
            </a:r>
            <a:r>
              <a:rPr lang="zh-CN" altLang="en-US"/>
              <a:t>集群范畴,通常需要接入 </a:t>
            </a:r>
            <a:r>
              <a:rPr lang="en-US" altLang="zh-CN"/>
              <a:t>DNS/GSLB </a:t>
            </a:r>
            <a:r>
              <a:rPr lang="zh-CN" altLang="en-US"/>
              <a:t>或云厂商的全局负载均衡产品,这块建议先不做,</a:t>
            </a:r>
            <a:r>
              <a:rPr lang="en-US" altLang="zh-CN"/>
              <a:t>MVP </a:t>
            </a:r>
            <a:r>
              <a:rPr lang="zh-CN" altLang="en-US"/>
              <a:t>阶段每个 </a:t>
            </a:r>
            <a:r>
              <a:rPr lang="en-US" altLang="zh-CN"/>
              <a:t>region </a:t>
            </a:r>
            <a:r>
              <a:rPr lang="zh-CN" altLang="en-US"/>
              <a:t>独立发布、独立灰度即可</a:t>
            </a:r>
            <a:endParaRPr lang="zh-CN" altLang="en-US"/>
          </a:p>
          <a:p>
            <a:r>
              <a:rPr lang="zh-CN" altLang="en-US"/>
              <a:t>厂商差异抽象:不同云厂商的 </a:t>
            </a:r>
            <a:r>
              <a:rPr lang="en-US" altLang="zh-CN"/>
              <a:t>K8s(</a:t>
            </a:r>
            <a:r>
              <a:rPr lang="zh-CN" altLang="en-US"/>
              <a:t>阿里云</a:t>
            </a:r>
            <a:r>
              <a:rPr lang="en-US" altLang="zh-CN"/>
              <a:t>ACK、</a:t>
            </a:r>
            <a:r>
              <a:rPr lang="zh-CN" altLang="en-US"/>
              <a:t>腾讯云</a:t>
            </a:r>
            <a:r>
              <a:rPr lang="en-US" altLang="zh-CN"/>
              <a:t>TKE、</a:t>
            </a:r>
            <a:r>
              <a:rPr lang="zh-CN" altLang="en-US"/>
              <a:t>自建集群等)在存储类、</a:t>
            </a:r>
            <a:r>
              <a:rPr lang="en-US" altLang="zh-CN"/>
              <a:t>Ingress Controller、</a:t>
            </a:r>
            <a:r>
              <a:rPr lang="zh-CN" altLang="en-US"/>
              <a:t>认证方式上有细微差异,</a:t>
            </a:r>
            <a:r>
              <a:rPr lang="en-US" altLang="zh-CN"/>
              <a:t>Agent </a:t>
            </a:r>
            <a:r>
              <a:rPr lang="zh-CN" altLang="en-US"/>
              <a:t>内部建议做一层"厂商适配"接口,而不是散落在业务代码里判断厂商类型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自建 </a:t>
            </a:r>
            <a:r>
              <a:rPr lang="en-US" altLang="zh-CN"/>
              <a:t>Operator </a:t>
            </a:r>
            <a:r>
              <a:rPr lang="zh-CN" altLang="en-US"/>
              <a:t>是个很自然的演进方向——正好跟前面的 </a:t>
            </a:r>
            <a:r>
              <a:rPr lang="en-US" altLang="zh-CN"/>
              <a:t>Hub-Spoke </a:t>
            </a:r>
            <a:r>
              <a:rPr lang="zh-CN" altLang="en-US"/>
              <a:t>多集群架构可以无缝结合:**</a:t>
            </a:r>
            <a:r>
              <a:rPr lang="en-US" altLang="zh-CN"/>
              <a:t>Agent </a:t>
            </a:r>
            <a:r>
              <a:rPr lang="zh-CN" altLang="en-US"/>
              <a:t>和 </a:t>
            </a:r>
            <a:r>
              <a:rPr lang="en-US" altLang="zh-CN"/>
              <a:t>Operator </a:t>
            </a:r>
            <a:r>
              <a:rPr lang="zh-CN" altLang="en-US"/>
              <a:t>可以合并成同一个跑在各集群里的组件**,用 </a:t>
            </a:r>
            <a:r>
              <a:rPr lang="en-US" altLang="zh-CN"/>
              <a:t>CRD </a:t>
            </a:r>
            <a:r>
              <a:rPr lang="zh-CN" altLang="en-US"/>
              <a:t>把执行状态声明式地存在 </a:t>
            </a:r>
            <a:r>
              <a:rPr lang="en-US" altLang="zh-CN"/>
              <a:t>K8s </a:t>
            </a:r>
            <a:r>
              <a:rPr lang="zh-CN" altLang="en-US"/>
              <a:t>里,而不是全靠 </a:t>
            </a:r>
            <a:r>
              <a:rPr lang="en-US" altLang="zh-CN"/>
              <a:t>Agent </a:t>
            </a:r>
            <a:r>
              <a:rPr lang="zh-CN" altLang="en-US"/>
              <a:t>自己维护内存状态。这样做的好处是自愈能力强(</a:t>
            </a:r>
            <a:r>
              <a:rPr lang="en-US" altLang="zh-CN"/>
              <a:t>reconcile </a:t>
            </a:r>
            <a:r>
              <a:rPr lang="zh-CN" altLang="en-US"/>
              <a:t>循环天然处理 </a:t>
            </a:r>
            <a:r>
              <a:rPr lang="en-US" altLang="zh-CN"/>
              <a:t>Pod </a:t>
            </a:r>
            <a:r>
              <a:rPr lang="zh-CN" altLang="en-US"/>
              <a:t>被驱逐、节点重启等异常)、状态可用 `</a:t>
            </a:r>
            <a:r>
              <a:rPr lang="en-US" altLang="zh-CN"/>
              <a:t>kubectl get pipelineruns` </a:t>
            </a:r>
            <a:r>
              <a:rPr lang="zh-CN" altLang="en-US"/>
              <a:t>直接查看,还能借助 `</a:t>
            </a:r>
            <a:r>
              <a:rPr lang="en-US" altLang="zh-CN"/>
              <a:t>controller-runtime` </a:t>
            </a:r>
            <a:r>
              <a:rPr lang="zh-CN" altLang="en-US"/>
              <a:t>自带的 </a:t>
            </a:r>
            <a:r>
              <a:rPr lang="en-US" altLang="zh-CN"/>
              <a:t>leader election </a:t>
            </a:r>
            <a:r>
              <a:rPr lang="zh-CN" altLang="en-US"/>
              <a:t>做控制器高可用。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## CRD </a:t>
            </a:r>
            <a:r>
              <a:rPr lang="zh-CN" altLang="en-US"/>
              <a:t>设计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用 `</a:t>
            </a:r>
            <a:r>
              <a:rPr lang="en-US" altLang="zh-CN"/>
              <a:t>kubebuilder` </a:t>
            </a:r>
            <a:r>
              <a:rPr lang="zh-CN" altLang="en-US"/>
              <a:t>脚手架,定义一个 </a:t>
            </a:r>
            <a:r>
              <a:rPr lang="en-US" altLang="zh-CN"/>
              <a:t>API Group(</a:t>
            </a:r>
            <a:r>
              <a:rPr lang="zh-CN" altLang="en-US"/>
              <a:t>比如 `</a:t>
            </a:r>
            <a:r>
              <a:rPr lang="en-US" altLang="zh-CN"/>
              <a:t>pipeline.yourcompany.io/v1alpha1`),</a:t>
            </a:r>
            <a:r>
              <a:rPr lang="zh-CN" altLang="en-US"/>
              <a:t>三个核心 </a:t>
            </a:r>
            <a:r>
              <a:rPr lang="en-US" altLang="zh-CN"/>
              <a:t>CRD: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**`PipelineRun`**:</a:t>
            </a:r>
            <a:r>
              <a:rPr lang="zh-CN" altLang="en-US"/>
              <a:t>一次流水线执行实例</a:t>
            </a:r>
            <a:endParaRPr lang="zh-CN" altLang="en-US"/>
          </a:p>
          <a:p>
            <a:r>
              <a:rPr lang="en-US" altLang="zh-CN"/>
              <a:t>- `spec`:DAG </a:t>
            </a:r>
            <a:r>
              <a:rPr lang="zh-CN" altLang="en-US"/>
              <a:t>定义引用、参数、目标环境</a:t>
            </a:r>
            <a:endParaRPr lang="zh-CN" altLang="en-US"/>
          </a:p>
          <a:p>
            <a:r>
              <a:rPr lang="en-US" altLang="zh-CN"/>
              <a:t>- `status`:</a:t>
            </a:r>
            <a:r>
              <a:rPr lang="zh-CN" altLang="en-US"/>
              <a:t>整体阶段(</a:t>
            </a:r>
            <a:r>
              <a:rPr lang="en-US" altLang="zh-CN"/>
              <a:t>Pending/Running/Succeeded/Failed)、</a:t>
            </a:r>
            <a:r>
              <a:rPr lang="zh-CN" altLang="en-US"/>
              <a:t>各节点状态汇总、当前暂停在哪个审批 </a:t>
            </a:r>
            <a:r>
              <a:rPr lang="en-US" altLang="zh-CN"/>
              <a:t>Gate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**`TaskRun`**:DAG </a:t>
            </a:r>
            <a:r>
              <a:rPr lang="zh-CN" altLang="en-US"/>
              <a:t>中单个节点的执行实例(由 </a:t>
            </a:r>
            <a:r>
              <a:rPr lang="en-US" altLang="zh-CN"/>
              <a:t>PipelineRun </a:t>
            </a:r>
            <a:r>
              <a:rPr lang="zh-CN" altLang="en-US"/>
              <a:t>的控制器创建)</a:t>
            </a:r>
            <a:endParaRPr lang="zh-CN" altLang="en-US"/>
          </a:p>
          <a:p>
            <a:r>
              <a:rPr lang="en-US" altLang="zh-CN"/>
              <a:t>- `spec`:</a:t>
            </a:r>
            <a:r>
              <a:rPr lang="zh-CN" altLang="en-US"/>
              <a:t>镜像、命令、依赖的上游 </a:t>
            </a:r>
            <a:r>
              <a:rPr lang="en-US" altLang="zh-CN"/>
              <a:t>TaskRun</a:t>
            </a:r>
            <a:endParaRPr lang="en-US" altLang="zh-CN"/>
          </a:p>
          <a:p>
            <a:r>
              <a:rPr lang="en-US" altLang="zh-CN"/>
              <a:t>- `status`:</a:t>
            </a:r>
            <a:r>
              <a:rPr lang="zh-CN" altLang="en-US"/>
              <a:t>关联的 </a:t>
            </a:r>
            <a:r>
              <a:rPr lang="en-US" altLang="zh-CN"/>
              <a:t>Job </a:t>
            </a:r>
            <a:r>
              <a:rPr lang="zh-CN" altLang="en-US"/>
              <a:t>名、执行结果、日志位置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**`Rollout`**(</a:t>
            </a:r>
            <a:r>
              <a:rPr lang="zh-CN" altLang="en-US"/>
              <a:t>自研简化版灰度 </a:t>
            </a:r>
            <a:r>
              <a:rPr lang="en-US" altLang="zh-CN"/>
              <a:t>CRD):</a:t>
            </a:r>
            <a:endParaRPr lang="en-US" altLang="zh-CN"/>
          </a:p>
          <a:p>
            <a:r>
              <a:rPr lang="en-US" altLang="zh-CN"/>
              <a:t>- `spec`:stable/canary </a:t>
            </a:r>
            <a:r>
              <a:rPr lang="zh-CN" altLang="en-US"/>
              <a:t>镜像版本、权重步进策略(如 `[10,50,100]`,每步间隔)</a:t>
            </a:r>
            <a:endParaRPr lang="zh-CN" altLang="en-US"/>
          </a:p>
          <a:p>
            <a:r>
              <a:rPr lang="en-US" altLang="zh-CN"/>
              <a:t>- `status`:</a:t>
            </a:r>
            <a:r>
              <a:rPr lang="zh-CN" altLang="en-US"/>
              <a:t>当前权重、健康检查结果、是否触发自动回滚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 各组件如何配合## </a:t>
            </a:r>
            <a:r>
              <a:rPr lang="en-US" altLang="zh-CN"/>
              <a:t>Agent </a:t>
            </a:r>
            <a:r>
              <a:rPr lang="zh-CN" altLang="en-US"/>
              <a:t>与 </a:t>
            </a:r>
            <a:r>
              <a:rPr lang="en-US" altLang="zh-CN"/>
              <a:t>Operator </a:t>
            </a:r>
            <a:r>
              <a:rPr lang="zh-CN" altLang="en-US"/>
              <a:t>的关系:建议合并部署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不需要 </a:t>
            </a:r>
            <a:r>
              <a:rPr lang="en-US" altLang="zh-CN"/>
              <a:t>Agent </a:t>
            </a:r>
            <a:r>
              <a:rPr lang="zh-CN" altLang="en-US"/>
              <a:t>和 </a:t>
            </a:r>
            <a:r>
              <a:rPr lang="en-US" altLang="zh-CN"/>
              <a:t>Operator </a:t>
            </a:r>
            <a:r>
              <a:rPr lang="zh-CN" altLang="en-US"/>
              <a:t>是两个独立进程,可以合并成**一个 </a:t>
            </a:r>
            <a:r>
              <a:rPr lang="en-US" altLang="zh-CN"/>
              <a:t>Go </a:t>
            </a:r>
            <a:r>
              <a:rPr lang="zh-CN" altLang="en-US"/>
              <a:t>二进制**,跑在目标集群里的一个 </a:t>
            </a:r>
            <a:r>
              <a:rPr lang="en-US" altLang="zh-CN"/>
              <a:t>Deployment </a:t>
            </a:r>
            <a:r>
              <a:rPr lang="zh-CN" altLang="en-US"/>
              <a:t>中: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- 一部分是 </a:t>
            </a:r>
            <a:r>
              <a:rPr lang="en-US" altLang="zh-CN"/>
              <a:t>gRPC/WebSocket **</a:t>
            </a:r>
            <a:r>
              <a:rPr lang="zh-CN" altLang="en-US"/>
              <a:t>客户端**(负责跟 </a:t>
            </a:r>
            <a:r>
              <a:rPr lang="en-US" altLang="zh-CN"/>
              <a:t>Hub </a:t>
            </a:r>
            <a:r>
              <a:rPr lang="zh-CN" altLang="en-US"/>
              <a:t>维持长连接、接收下发指令、推送状态)</a:t>
            </a:r>
            <a:endParaRPr lang="zh-CN" altLang="en-US"/>
          </a:p>
          <a:p>
            <a:r>
              <a:rPr lang="zh-CN" altLang="en-US"/>
              <a:t>- 一部分是 `</a:t>
            </a:r>
            <a:r>
              <a:rPr lang="en-US" altLang="zh-CN"/>
              <a:t>controller-runtime` </a:t>
            </a:r>
            <a:r>
              <a:rPr lang="zh-CN" altLang="en-US"/>
              <a:t>的 **</a:t>
            </a:r>
            <a:r>
              <a:rPr lang="en-US" altLang="zh-CN"/>
              <a:t>Manager**(</a:t>
            </a:r>
            <a:r>
              <a:rPr lang="zh-CN" altLang="en-US"/>
              <a:t>负责跑 </a:t>
            </a:r>
            <a:r>
              <a:rPr lang="en-US" altLang="zh-CN"/>
              <a:t>Reconciler,watch </a:t>
            </a:r>
            <a:r>
              <a:rPr lang="zh-CN" altLang="en-US"/>
              <a:t>本地 </a:t>
            </a:r>
            <a:r>
              <a:rPr lang="en-US" altLang="zh-CN"/>
              <a:t>CRD)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Hub </a:t>
            </a:r>
            <a:r>
              <a:rPr lang="zh-CN" altLang="en-US"/>
              <a:t>下发指令时,这个组件把它转成 `</a:t>
            </a:r>
            <a:r>
              <a:rPr lang="en-US" altLang="zh-CN"/>
              <a:t>PipelineRun` CR,</a:t>
            </a:r>
            <a:r>
              <a:rPr lang="zh-CN" altLang="en-US"/>
              <a:t>用本地 </a:t>
            </a:r>
            <a:r>
              <a:rPr lang="en-US" altLang="zh-CN"/>
              <a:t>client </a:t>
            </a:r>
            <a:r>
              <a:rPr lang="zh-CN" altLang="en-US"/>
              <a:t>直接 `</a:t>
            </a:r>
            <a:r>
              <a:rPr lang="en-US" altLang="zh-CN"/>
              <a:t>Create` </a:t>
            </a:r>
            <a:r>
              <a:rPr lang="zh-CN" altLang="en-US"/>
              <a:t>到集群里;</a:t>
            </a:r>
            <a:r>
              <a:rPr lang="en-US" altLang="zh-CN"/>
              <a:t>Reconciler watch </a:t>
            </a:r>
            <a:r>
              <a:rPr lang="zh-CN" altLang="en-US"/>
              <a:t>到新 </a:t>
            </a:r>
            <a:r>
              <a:rPr lang="en-US" altLang="zh-CN"/>
              <a:t>CR </a:t>
            </a:r>
            <a:r>
              <a:rPr lang="zh-CN" altLang="en-US"/>
              <a:t>后接管后续所有逻辑(创建 </a:t>
            </a:r>
            <a:r>
              <a:rPr lang="en-US" altLang="zh-CN"/>
              <a:t>TaskRun → </a:t>
            </a:r>
            <a:r>
              <a:rPr lang="zh-CN" altLang="en-US"/>
              <a:t>创建 </a:t>
            </a:r>
            <a:r>
              <a:rPr lang="en-US" altLang="zh-CN"/>
              <a:t>Job → </a:t>
            </a:r>
            <a:r>
              <a:rPr lang="zh-CN" altLang="en-US"/>
              <a:t>监控 → 推进 </a:t>
            </a:r>
            <a:r>
              <a:rPr lang="en-US" altLang="zh-CN"/>
              <a:t>DAG),</a:t>
            </a:r>
            <a:r>
              <a:rPr lang="zh-CN" altLang="en-US"/>
              <a:t>状态变化写回 </a:t>
            </a:r>
            <a:r>
              <a:rPr lang="en-US" altLang="zh-CN"/>
              <a:t>CR </a:t>
            </a:r>
            <a:r>
              <a:rPr lang="zh-CN" altLang="en-US"/>
              <a:t>的 `</a:t>
            </a:r>
            <a:r>
              <a:rPr lang="en-US" altLang="zh-CN"/>
              <a:t>status` </a:t>
            </a:r>
            <a:r>
              <a:rPr lang="zh-CN" altLang="en-US"/>
              <a:t>字段;同一个组件里的一个 </a:t>
            </a:r>
            <a:r>
              <a:rPr lang="en-US" altLang="zh-CN"/>
              <a:t>watcher </a:t>
            </a:r>
            <a:r>
              <a:rPr lang="zh-CN" altLang="en-US"/>
              <a:t>监听这些 </a:t>
            </a:r>
            <a:r>
              <a:rPr lang="en-US" altLang="zh-CN"/>
              <a:t>CR </a:t>
            </a:r>
            <a:r>
              <a:rPr lang="zh-CN" altLang="en-US"/>
              <a:t>的 </a:t>
            </a:r>
            <a:r>
              <a:rPr lang="en-US" altLang="zh-CN"/>
              <a:t>status </a:t>
            </a:r>
            <a:r>
              <a:rPr lang="zh-CN" altLang="en-US"/>
              <a:t>变化,通过长连接把状态实时推给 </a:t>
            </a:r>
            <a:r>
              <a:rPr lang="en-US" altLang="zh-CN"/>
              <a:t>Hub。</a:t>
            </a:r>
            <a:r>
              <a:rPr lang="zh-CN" altLang="en-US"/>
              <a:t>这样职责很清晰:**通信层**和**执行逻辑层**解耦,但部署上是一个整体,运维简单。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## Reconcile </a:t>
            </a:r>
            <a:r>
              <a:rPr lang="zh-CN" altLang="en-US"/>
              <a:t>逻辑要点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1. **DAG </a:t>
            </a:r>
            <a:r>
              <a:rPr lang="zh-CN" altLang="en-US"/>
              <a:t>推进**:</a:t>
            </a:r>
            <a:r>
              <a:rPr lang="en-US" altLang="zh-CN"/>
              <a:t>PipelineRun Controller </a:t>
            </a:r>
            <a:r>
              <a:rPr lang="zh-CN" altLang="en-US"/>
              <a:t>每次 </a:t>
            </a:r>
            <a:r>
              <a:rPr lang="en-US" altLang="zh-CN"/>
              <a:t>reconcile </a:t>
            </a:r>
            <a:r>
              <a:rPr lang="zh-CN" altLang="en-US"/>
              <a:t>时检查所有 </a:t>
            </a:r>
            <a:r>
              <a:rPr lang="en-US" altLang="zh-CN"/>
              <a:t>TaskRun </a:t>
            </a:r>
            <a:r>
              <a:rPr lang="zh-CN" altLang="en-US"/>
              <a:t>状态,找出"依赖已全部完成"的下一批可执行节点,创建对应 </a:t>
            </a:r>
            <a:r>
              <a:rPr lang="en-US" altLang="zh-CN"/>
              <a:t>TaskRun;</a:t>
            </a:r>
            <a:r>
              <a:rPr lang="zh-CN" altLang="en-US"/>
              <a:t>这是幂等操作(重复 </a:t>
            </a:r>
            <a:r>
              <a:rPr lang="en-US" altLang="zh-CN"/>
              <a:t>reconcile </a:t>
            </a:r>
            <a:r>
              <a:rPr lang="zh-CN" altLang="en-US"/>
              <a:t>不会重复创建),天然处理并发和失败重试</a:t>
            </a:r>
            <a:endParaRPr lang="zh-CN" altLang="en-US"/>
          </a:p>
          <a:p>
            <a:r>
              <a:rPr lang="zh-CN" altLang="en-US"/>
              <a:t>2. **审批 </a:t>
            </a:r>
            <a:r>
              <a:rPr lang="en-US" altLang="zh-CN"/>
              <a:t>Gate**:</a:t>
            </a:r>
            <a:r>
              <a:rPr lang="zh-CN" altLang="en-US"/>
              <a:t>遇到 `</a:t>
            </a:r>
            <a:r>
              <a:rPr lang="en-US" altLang="zh-CN"/>
              <a:t>type: approval` </a:t>
            </a:r>
            <a:r>
              <a:rPr lang="zh-CN" altLang="en-US"/>
              <a:t>的节点时,</a:t>
            </a:r>
            <a:r>
              <a:rPr lang="en-US" altLang="zh-CN"/>
              <a:t>PipelineRun </a:t>
            </a:r>
            <a:r>
              <a:rPr lang="zh-CN" altLang="en-US"/>
              <a:t>停在该阶段,`</a:t>
            </a:r>
            <a:r>
              <a:rPr lang="en-US" altLang="zh-CN"/>
              <a:t>status.phase = WaitingApproval`;Hub </a:t>
            </a:r>
            <a:r>
              <a:rPr lang="zh-CN" altLang="en-US"/>
              <a:t>收到审批通过的业务事件后,通过 </a:t>
            </a:r>
            <a:r>
              <a:rPr lang="en-US" altLang="zh-CN"/>
              <a:t>Agent </a:t>
            </a:r>
            <a:r>
              <a:rPr lang="zh-CN" altLang="en-US"/>
              <a:t>把决策 </a:t>
            </a:r>
            <a:r>
              <a:rPr lang="en-US" altLang="zh-CN"/>
              <a:t>patch </a:t>
            </a:r>
            <a:r>
              <a:rPr lang="zh-CN" altLang="en-US"/>
              <a:t>到该 </a:t>
            </a:r>
            <a:r>
              <a:rPr lang="en-US" altLang="zh-CN"/>
              <a:t>CR </a:t>
            </a:r>
            <a:r>
              <a:rPr lang="zh-CN" altLang="en-US"/>
              <a:t>的 `</a:t>
            </a:r>
            <a:r>
              <a:rPr lang="en-US" altLang="zh-CN"/>
              <a:t>spec.approvals[]`,Controller reconcile </a:t>
            </a:r>
            <a:r>
              <a:rPr lang="zh-CN" altLang="en-US"/>
              <a:t>时读取到已批准,继续推进</a:t>
            </a:r>
            <a:endParaRPr lang="zh-CN" altLang="en-US"/>
          </a:p>
          <a:p>
            <a:r>
              <a:rPr lang="zh-CN" altLang="en-US"/>
              <a:t>3. **失败重试**:</a:t>
            </a:r>
            <a:r>
              <a:rPr lang="en-US" altLang="zh-CN"/>
              <a:t>TaskRun Controller </a:t>
            </a:r>
            <a:r>
              <a:rPr lang="zh-CN" altLang="en-US"/>
              <a:t>里维护 `</a:t>
            </a:r>
            <a:r>
              <a:rPr lang="en-US" altLang="zh-CN"/>
              <a:t>retryCount`,</a:t>
            </a:r>
            <a:r>
              <a:rPr lang="zh-CN" altLang="en-US"/>
              <a:t>失败后按 </a:t>
            </a:r>
            <a:r>
              <a:rPr lang="en-US" altLang="zh-CN"/>
              <a:t>CR </a:t>
            </a:r>
            <a:r>
              <a:rPr lang="zh-CN" altLang="en-US"/>
              <a:t>里定义的策略(比如指数退避)重新创建 </a:t>
            </a:r>
            <a:r>
              <a:rPr lang="en-US" altLang="zh-CN"/>
              <a:t>Job,</a:t>
            </a:r>
            <a:r>
              <a:rPr lang="zh-CN" altLang="en-US"/>
              <a:t>而不是立刻标记 </a:t>
            </a:r>
            <a:r>
              <a:rPr lang="en-US" altLang="zh-CN"/>
              <a:t>PipelineRun </a:t>
            </a:r>
            <a:r>
              <a:rPr lang="zh-CN" altLang="en-US"/>
              <a:t>失败</a:t>
            </a:r>
            <a:endParaRPr lang="zh-CN" altLang="en-US"/>
          </a:p>
          <a:p>
            <a:r>
              <a:rPr lang="zh-CN" altLang="en-US"/>
              <a:t>4. **灰度 </a:t>
            </a:r>
            <a:r>
              <a:rPr lang="en-US" altLang="zh-CN"/>
              <a:t>Reconcile**:Rollout Controller </a:t>
            </a:r>
            <a:r>
              <a:rPr lang="zh-CN" altLang="en-US"/>
              <a:t>独立运行一个 </a:t>
            </a:r>
            <a:r>
              <a:rPr lang="en-US" altLang="zh-CN"/>
              <a:t>reconcile </a:t>
            </a:r>
            <a:r>
              <a:rPr lang="zh-CN" altLang="en-US"/>
              <a:t>循环,定时检查健康指标(可以是 </a:t>
            </a:r>
            <a:r>
              <a:rPr lang="en-US" altLang="zh-CN"/>
              <a:t>Pod Ready </a:t>
            </a:r>
            <a:r>
              <a:rPr lang="zh-CN" altLang="en-US"/>
              <a:t>数、也可以对接 </a:t>
            </a:r>
            <a:r>
              <a:rPr lang="en-US" altLang="zh-CN"/>
              <a:t>Prometheus </a:t>
            </a:r>
            <a:r>
              <a:rPr lang="zh-CN" altLang="en-US"/>
              <a:t>查询),按步进策略调整 </a:t>
            </a:r>
            <a:r>
              <a:rPr lang="en-US" altLang="zh-CN"/>
              <a:t>Deployment </a:t>
            </a:r>
            <a:r>
              <a:rPr lang="zh-CN" altLang="en-US"/>
              <a:t>副本比例或 </a:t>
            </a:r>
            <a:r>
              <a:rPr lang="en-US" altLang="zh-CN"/>
              <a:t>Ingress </a:t>
            </a:r>
            <a:r>
              <a:rPr lang="zh-CN" altLang="en-US"/>
              <a:t>权重注解,异常时自动把 </a:t>
            </a:r>
            <a:r>
              <a:rPr lang="en-US" altLang="zh-CN"/>
              <a:t>canary </a:t>
            </a:r>
            <a:r>
              <a:rPr lang="zh-CN" altLang="en-US"/>
              <a:t>权重打回 0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 高可用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`controller-runtime` </a:t>
            </a:r>
            <a:r>
              <a:rPr lang="zh-CN" altLang="en-US"/>
              <a:t>自带 </a:t>
            </a:r>
            <a:r>
              <a:rPr lang="en-US" altLang="zh-CN"/>
              <a:t>leader election(</a:t>
            </a:r>
            <a:r>
              <a:rPr lang="zh-CN" altLang="en-US"/>
              <a:t>基于 </a:t>
            </a:r>
            <a:r>
              <a:rPr lang="en-US" altLang="zh-CN"/>
              <a:t>K8s </a:t>
            </a:r>
            <a:r>
              <a:rPr lang="zh-CN" altLang="en-US"/>
              <a:t>的 `</a:t>
            </a:r>
            <a:r>
              <a:rPr lang="en-US" altLang="zh-CN"/>
              <a:t>Lease` </a:t>
            </a:r>
            <a:r>
              <a:rPr lang="zh-CN" altLang="en-US"/>
              <a:t>资源),</a:t>
            </a:r>
            <a:r>
              <a:rPr lang="en-US" altLang="zh-CN"/>
              <a:t>Operator </a:t>
            </a:r>
            <a:r>
              <a:rPr lang="zh-CN" altLang="en-US"/>
              <a:t>组件可以在每个集群里跑多个副本,只有 </a:t>
            </a:r>
            <a:r>
              <a:rPr lang="en-US" altLang="zh-CN"/>
              <a:t>leader </a:t>
            </a:r>
            <a:r>
              <a:rPr lang="zh-CN" altLang="en-US"/>
              <a:t>处理 </a:t>
            </a:r>
            <a:r>
              <a:rPr lang="en-US" altLang="zh-CN"/>
              <a:t>reconcile,</a:t>
            </a:r>
            <a:r>
              <a:rPr lang="zh-CN" altLang="en-US"/>
              <a:t>其他副本待命,故障自动切换,不需要额外引入 </a:t>
            </a:r>
            <a:r>
              <a:rPr lang="en-US" altLang="zh-CN"/>
              <a:t>etcd/Redis </a:t>
            </a:r>
            <a:r>
              <a:rPr lang="zh-CN" altLang="en-US"/>
              <a:t>做选主。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---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这样一整套下来,你其实是在自己实现一个"轻量版 </a:t>
            </a:r>
            <a:r>
              <a:rPr lang="en-US" altLang="zh-CN"/>
              <a:t>Tekton + Argo Rollouts",</a:t>
            </a:r>
            <a:r>
              <a:rPr lang="zh-CN" altLang="en-US"/>
              <a:t>但完全掌握在自己手里、天然支持多租户和多云。接下来你想深入哪块?比如 **</a:t>
            </a:r>
            <a:r>
              <a:rPr lang="en-US" altLang="zh-CN"/>
              <a:t>CRD </a:t>
            </a:r>
            <a:r>
              <a:rPr lang="zh-CN" altLang="en-US"/>
              <a:t>的完整 </a:t>
            </a:r>
            <a:r>
              <a:rPr lang="en-US" altLang="zh-CN"/>
              <a:t>API </a:t>
            </a:r>
            <a:r>
              <a:rPr lang="zh-CN" altLang="en-US"/>
              <a:t>定义(</a:t>
            </a:r>
            <a:r>
              <a:rPr lang="en-US" altLang="zh-CN"/>
              <a:t>kubebuilder </a:t>
            </a:r>
            <a:r>
              <a:rPr lang="zh-CN" altLang="en-US"/>
              <a:t>的具体代码结构)**,还是**审批 </a:t>
            </a:r>
            <a:r>
              <a:rPr lang="en-US" altLang="zh-CN"/>
              <a:t>Gate </a:t>
            </a:r>
            <a:r>
              <a:rPr lang="zh-CN" altLang="en-US"/>
              <a:t>在 </a:t>
            </a:r>
            <a:r>
              <a:rPr lang="en-US" altLang="zh-CN"/>
              <a:t>CR </a:t>
            </a:r>
            <a:r>
              <a:rPr lang="zh-CN" altLang="en-US"/>
              <a:t>里的状态流转细节**?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前端设计：</a:t>
            </a:r>
            <a:endParaRPr lang="zh-CN" altLang="en-US"/>
          </a:p>
          <a:p>
            <a:r>
              <a:rPr lang="zh-CN" altLang="en-US"/>
              <a:t>服务树（1）-&gt;服务（</a:t>
            </a:r>
            <a:r>
              <a:rPr lang="en-US" altLang="zh-CN"/>
              <a:t>N）-&gt;</a:t>
            </a:r>
            <a:r>
              <a:rPr lang="zh-CN" altLang="en-US"/>
              <a:t>组件（</a:t>
            </a:r>
            <a:r>
              <a:rPr lang="en-US" altLang="zh-CN"/>
              <a:t>N）-&gt;</a:t>
            </a:r>
            <a:r>
              <a:rPr lang="zh-CN" altLang="en-US"/>
              <a:t>流水线（</a:t>
            </a:r>
            <a:r>
              <a:rPr lang="en-US" altLang="zh-CN"/>
              <a:t>N）-&gt;</a:t>
            </a:r>
            <a:r>
              <a:rPr lang="zh-CN" altLang="en-US"/>
              <a:t>流水线阶段（</a:t>
            </a:r>
            <a:r>
              <a:rPr lang="en-US" altLang="zh-CN"/>
              <a:t>N）-&gt;</a:t>
            </a:r>
            <a:r>
              <a:rPr lang="zh-CN" altLang="en-US"/>
              <a:t>流水线运行记录（</a:t>
            </a:r>
            <a:r>
              <a:rPr lang="en-US" altLang="zh-CN"/>
              <a:t>N）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按组件维度软件构建：</a:t>
            </a:r>
            <a:endParaRPr lang="zh-CN" altLang="en-US"/>
          </a:p>
          <a:p>
            <a:r>
              <a:rPr lang="zh-CN" altLang="en-US"/>
              <a:t>开始-&gt;构建阶段(子任务：构建)-&gt;归档阶段（子任务：归档）-&gt;结束</a:t>
            </a:r>
            <a:endParaRPr lang="zh-CN" altLang="en-US"/>
          </a:p>
          <a:p>
            <a:r>
              <a:rPr lang="zh-CN" altLang="en-US"/>
              <a:t>按组件维度软件发布：</a:t>
            </a:r>
            <a:endParaRPr lang="zh-CN" altLang="en-US"/>
          </a:p>
          <a:p>
            <a:r>
              <a:rPr lang="zh-CN" altLang="en-US"/>
              <a:t>开始-&gt;审批阶段(子任务：审批人审批)-&gt;部署阶段（子任务：部署</a:t>
            </a:r>
            <a:r>
              <a:rPr lang="en-US" altLang="zh-CN"/>
              <a:t>beta</a:t>
            </a:r>
            <a:r>
              <a:rPr lang="zh-CN" altLang="en-US"/>
              <a:t>环境、部署</a:t>
            </a:r>
            <a:r>
              <a:rPr lang="en-US" altLang="zh-CN"/>
              <a:t>alphe</a:t>
            </a:r>
            <a:r>
              <a:rPr lang="zh-CN" altLang="en-US"/>
              <a:t>环境、部署</a:t>
            </a:r>
            <a:r>
              <a:rPr lang="en-US" altLang="zh-CN"/>
              <a:t>gamma</a:t>
            </a:r>
            <a:r>
              <a:rPr lang="zh-CN" altLang="en-US"/>
              <a:t>环境等）-&gt;测试阶段（子任务：自动化测试）-&gt;结束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跟已有 </a:t>
            </a:r>
            <a:r>
              <a:rPr lang="en-US" altLang="zh-CN"/>
              <a:t>CRD </a:t>
            </a:r>
            <a:r>
              <a:rPr lang="zh-CN" altLang="en-US"/>
              <a:t>设计怎么衔接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"阶段"是分组概念,不改变 </a:t>
            </a:r>
            <a:r>
              <a:rPr lang="en-US" altLang="zh-CN"/>
              <a:t>DAG </a:t>
            </a:r>
            <a:r>
              <a:rPr lang="zh-CN" altLang="en-US"/>
              <a:t>执行机制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PipelineRunSpec.Tasks[] </a:t>
            </a:r>
            <a:r>
              <a:rPr lang="zh-CN" altLang="en-US"/>
              <a:t>目前是扁平列表,靠 </a:t>
            </a:r>
            <a:r>
              <a:rPr lang="en-US" altLang="zh-CN"/>
              <a:t>dependsOn </a:t>
            </a:r>
            <a:r>
              <a:rPr lang="zh-CN" altLang="en-US"/>
              <a:t>表达依赖。"阶段"其实是给这个扁平列表加一层展示分组,建议在 </a:t>
            </a:r>
            <a:r>
              <a:rPr lang="en-US" altLang="zh-CN"/>
              <a:t>PipelineTaskSpec </a:t>
            </a:r>
            <a:r>
              <a:rPr lang="zh-CN" altLang="en-US"/>
              <a:t>里加一个字段: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go</a:t>
            </a:r>
            <a:endParaRPr lang="en-US" altLang="zh-CN"/>
          </a:p>
          <a:p>
            <a:r>
              <a:rPr lang="en-US" altLang="zh-CN"/>
              <a:t>// Stage groups this task for UI display and sequencing; tasks in a later</a:t>
            </a:r>
            <a:endParaRPr lang="en-US" altLang="zh-CN"/>
          </a:p>
          <a:p>
            <a:r>
              <a:rPr lang="en-US" altLang="zh-CN"/>
              <a:t>// stage automatically depend on all tasks in the previous stage.</a:t>
            </a:r>
            <a:endParaRPr lang="en-US" altLang="zh-CN"/>
          </a:p>
          <a:p>
            <a:r>
              <a:rPr lang="en-US" altLang="zh-CN"/>
              <a:t>Stage string `json:"stage,omitempty"`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Hub </a:t>
            </a:r>
            <a:r>
              <a:rPr lang="zh-CN" altLang="en-US"/>
              <a:t>在把"流水线定义"翻译成 </a:t>
            </a:r>
            <a:r>
              <a:rPr lang="en-US" altLang="zh-CN"/>
              <a:t>PipelineRunSpec.Tasks[] </a:t>
            </a:r>
            <a:r>
              <a:rPr lang="zh-CN" altLang="en-US"/>
              <a:t>时,自动把同一 </a:t>
            </a:r>
            <a:r>
              <a:rPr lang="en-US" altLang="zh-CN"/>
              <a:t>Stage </a:t>
            </a:r>
            <a:r>
              <a:rPr lang="zh-CN" altLang="en-US"/>
              <a:t>内的任务并列(互不依赖,可并行跑,对应"部署 </a:t>
            </a:r>
            <a:r>
              <a:rPr lang="en-US" altLang="zh-CN"/>
              <a:t>Beta/Alpha/Gamma"</a:t>
            </a:r>
            <a:r>
              <a:rPr lang="zh-CN" altLang="en-US"/>
              <a:t>三个并行子任务),下一个 </a:t>
            </a:r>
            <a:r>
              <a:rPr lang="en-US" altLang="zh-CN"/>
              <a:t>Stage </a:t>
            </a:r>
            <a:r>
              <a:rPr lang="zh-CN" altLang="en-US"/>
              <a:t>的所有任务自动 </a:t>
            </a:r>
            <a:r>
              <a:rPr lang="en-US" altLang="zh-CN"/>
              <a:t>dependsOn </a:t>
            </a:r>
            <a:r>
              <a:rPr lang="zh-CN" altLang="en-US"/>
              <a:t>上一个 </a:t>
            </a:r>
            <a:r>
              <a:rPr lang="en-US" altLang="zh-CN"/>
              <a:t>Stage </a:t>
            </a:r>
            <a:r>
              <a:rPr lang="zh-CN" altLang="en-US"/>
              <a:t>的全部任务。这样前端"阶段"概念和后端 </a:t>
            </a:r>
            <a:r>
              <a:rPr lang="en-US" altLang="zh-CN"/>
              <a:t>DAG </a:t>
            </a:r>
            <a:r>
              <a:rPr lang="zh-CN" altLang="en-US"/>
              <a:t>引擎不冲突,阶段只是 </a:t>
            </a:r>
            <a:r>
              <a:rPr lang="en-US" altLang="zh-CN"/>
              <a:t>DAG </a:t>
            </a:r>
            <a:r>
              <a:rPr lang="zh-CN" altLang="en-US"/>
              <a:t>生成时的一种便捷语法糖。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2. 审批阶段直接对应我们已有的 </a:t>
            </a:r>
            <a:r>
              <a:rPr lang="en-US" altLang="zh-CN"/>
              <a:t>Approval </a:t>
            </a:r>
            <a:r>
              <a:rPr lang="zh-CN" altLang="en-US"/>
              <a:t>任务类型,部署阶段的每个子任务对应一个 </a:t>
            </a:r>
            <a:r>
              <a:rPr lang="en-US" altLang="zh-CN"/>
              <a:t>Deploy </a:t>
            </a:r>
            <a:r>
              <a:rPr lang="zh-CN" altLang="en-US"/>
              <a:t>类型任务(内嵌 </a:t>
            </a:r>
            <a:r>
              <a:rPr lang="en-US" altLang="zh-CN"/>
              <a:t>RolloutSpec),</a:t>
            </a:r>
            <a:r>
              <a:rPr lang="zh-CN" altLang="en-US"/>
              <a:t>测试阶段的自动化测试对应 </a:t>
            </a:r>
            <a:r>
              <a:rPr lang="en-US" altLang="zh-CN"/>
              <a:t>Normal </a:t>
            </a:r>
            <a:r>
              <a:rPr lang="zh-CN" altLang="en-US"/>
              <a:t>类型任务——现有三种 </a:t>
            </a:r>
            <a:r>
              <a:rPr lang="en-US" altLang="zh-CN"/>
              <a:t>PipelineTaskType </a:t>
            </a:r>
            <a:r>
              <a:rPr lang="zh-CN" altLang="en-US"/>
              <a:t>刚好够用,不需要新增类型。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一个容易被忽略的点:运行记录存哪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层级结构最底层的"流水线运行记录"如果直接查 </a:t>
            </a:r>
            <a:r>
              <a:rPr lang="en-US" altLang="zh-CN"/>
              <a:t>K8s </a:t>
            </a:r>
            <a:r>
              <a:rPr lang="zh-CN" altLang="en-US"/>
              <a:t>里的 </a:t>
            </a:r>
            <a:r>
              <a:rPr lang="en-US" altLang="zh-CN"/>
              <a:t>PipelineRun/TaskRun CR,</a:t>
            </a:r>
            <a:r>
              <a:rPr lang="zh-CN" altLang="en-US"/>
              <a:t>会有问题——</a:t>
            </a:r>
            <a:r>
              <a:rPr lang="en-US" altLang="zh-CN"/>
              <a:t>CR </a:t>
            </a:r>
            <a:r>
              <a:rPr lang="zh-CN" altLang="en-US"/>
              <a:t>不适合做长期历史存储,一是 </a:t>
            </a:r>
            <a:r>
              <a:rPr lang="en-US" altLang="zh-CN"/>
              <a:t>etcd </a:t>
            </a:r>
            <a:r>
              <a:rPr lang="zh-CN" altLang="en-US"/>
              <a:t>对象数量有性能上限,二是没有版本保留策略的话集群会被跑几个月后的历史记录撑爆。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建议做法: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PipelineRun/TaskRun CR </a:t>
            </a:r>
            <a:r>
              <a:rPr lang="zh-CN" altLang="en-US"/>
              <a:t>只保留近期(比如最近 7 天或最近 </a:t>
            </a:r>
            <a:r>
              <a:rPr lang="en-US" altLang="zh-CN"/>
              <a:t>N </a:t>
            </a:r>
            <a:r>
              <a:rPr lang="zh-CN" altLang="en-US"/>
              <a:t>次),用一个简单的 </a:t>
            </a:r>
            <a:r>
              <a:rPr lang="en-US" altLang="zh-CN"/>
              <a:t>TTL </a:t>
            </a:r>
            <a:r>
              <a:rPr lang="zh-CN" altLang="en-US"/>
              <a:t>控制器定期清理已完成的 </a:t>
            </a:r>
            <a:r>
              <a:rPr lang="en-US" altLang="zh-CN"/>
              <a:t>CR</a:t>
            </a:r>
            <a:endParaRPr lang="en-US" altLang="zh-CN"/>
          </a:p>
          <a:p>
            <a:r>
              <a:rPr lang="en-US" altLang="zh-CN"/>
              <a:t>Runner </a:t>
            </a:r>
            <a:r>
              <a:rPr lang="zh-CN" altLang="en-US"/>
              <a:t>的 </a:t>
            </a:r>
            <a:r>
              <a:rPr lang="en-US" altLang="zh-CN"/>
              <a:t>Agent </a:t>
            </a:r>
            <a:r>
              <a:rPr lang="zh-CN" altLang="en-US"/>
              <a:t>组件在 </a:t>
            </a:r>
            <a:r>
              <a:rPr lang="en-US" altLang="zh-CN"/>
              <a:t>watch </a:t>
            </a:r>
            <a:r>
              <a:rPr lang="zh-CN" altLang="en-US"/>
              <a:t>到状态变化时,除了推给 </a:t>
            </a:r>
            <a:r>
              <a:rPr lang="en-US" altLang="zh-CN"/>
              <a:t>Hub </a:t>
            </a:r>
            <a:r>
              <a:rPr lang="zh-CN" altLang="en-US"/>
              <a:t>做实时展示,</a:t>
            </a:r>
            <a:r>
              <a:rPr lang="en-US" altLang="zh-CN"/>
              <a:t>Hub </a:t>
            </a:r>
            <a:r>
              <a:rPr lang="zh-CN" altLang="en-US"/>
              <a:t>侧同时把完整记录落库到自己的 </a:t>
            </a:r>
            <a:r>
              <a:rPr lang="en-US" altLang="zh-CN"/>
              <a:t>PostgreSQL(pipeline_runs、task_runs </a:t>
            </a:r>
            <a:r>
              <a:rPr lang="zh-CN" altLang="en-US"/>
              <a:t>表),前端"流水线运行记录"列表页查的是 </a:t>
            </a:r>
            <a:r>
              <a:rPr lang="en-US" altLang="zh-CN"/>
              <a:t>Hub </a:t>
            </a:r>
            <a:r>
              <a:rPr lang="zh-CN" altLang="en-US"/>
              <a:t>数据库,不是实时查 </a:t>
            </a:r>
            <a:r>
              <a:rPr lang="en-US" altLang="zh-CN"/>
              <a:t>K8s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/>
              <a:t>每个子任务在前端配置的运行命令都是针对任务的</a:t>
            </a:r>
            <a:r>
              <a:rPr lang="en-US" altLang="zh-CN"/>
              <a:t>shell</a:t>
            </a:r>
            <a:r>
              <a:rPr lang="zh-CN" altLang="en-US"/>
              <a:t>命令（例如运行代码库的</a:t>
            </a:r>
            <a:r>
              <a:rPr lang="en-US" altLang="zh-CN"/>
              <a:t>build.sh</a:t>
            </a:r>
            <a:r>
              <a:rPr lang="zh-CN" altLang="en-US"/>
              <a:t>脚本、</a:t>
            </a:r>
            <a:r>
              <a:rPr lang="en-US" altLang="zh-CN"/>
              <a:t>run.sh</a:t>
            </a:r>
            <a:r>
              <a:rPr lang="zh-CN" altLang="en-US"/>
              <a:t>脚本、</a:t>
            </a:r>
            <a:r>
              <a:rPr lang="en-US" altLang="zh-CN"/>
              <a:t>test.sh</a:t>
            </a:r>
            <a:r>
              <a:rPr lang="zh-CN" altLang="en-US"/>
              <a:t>脚本）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既然子任务本质是"跑代码库里的一个 </a:t>
            </a:r>
            <a:r>
              <a:rPr lang="en-US" altLang="zh-CN"/>
              <a:t>shell </a:t>
            </a:r>
            <a:r>
              <a:rPr lang="zh-CN" altLang="en-US"/>
              <a:t>脚本",就需要解决两个问题:代码怎么拉到执行容器里,以及跨阶段之间(比如构建产物给部署阶段用)的产物怎么传递——尤其我们现在是多集群架构,不能假设两个阶段的 </a:t>
            </a:r>
            <a:r>
              <a:rPr lang="en-US" altLang="zh-CN"/>
              <a:t>Job </a:t>
            </a:r>
            <a:r>
              <a:rPr lang="zh-CN" altLang="en-US"/>
              <a:t>跑在同一个 </a:t>
            </a:r>
            <a:r>
              <a:rPr lang="en-US" altLang="zh-CN"/>
              <a:t>Pod </a:t>
            </a:r>
            <a:r>
              <a:rPr lang="zh-CN" altLang="en-US"/>
              <a:t>甚至同一个集群里。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标准环境变量约定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不管哪个脚本(</a:t>
            </a:r>
            <a:r>
              <a:rPr lang="en-US" altLang="zh-CN"/>
              <a:t>build.sh/archive.sh/test.sh/run.sh),runner </a:t>
            </a:r>
            <a:r>
              <a:rPr lang="zh-CN" altLang="en-US"/>
              <a:t>在主容器里都注入一组统一的环境变量,脚本内部可以直接读,不需要平台在调用参数里手动拼: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环境变量	说明</a:t>
            </a:r>
            <a:endParaRPr lang="zh-CN" altLang="en-US"/>
          </a:p>
          <a:p>
            <a:r>
              <a:rPr lang="en-US" altLang="zh-CN"/>
              <a:t>SDP_PIPELINE_RUN	PipelineRun </a:t>
            </a:r>
            <a:r>
              <a:rPr lang="zh-CN" altLang="en-US"/>
              <a:t>名称,用作产物/日志的命名空间</a:t>
            </a:r>
            <a:endParaRPr lang="zh-CN" altLang="en-US"/>
          </a:p>
          <a:p>
            <a:r>
              <a:rPr lang="en-US" altLang="zh-CN"/>
              <a:t>SDP_TASK_NAME	</a:t>
            </a:r>
            <a:r>
              <a:rPr lang="zh-CN" altLang="en-US"/>
              <a:t>当前任务名,比如 </a:t>
            </a:r>
            <a:r>
              <a:rPr lang="en-US" altLang="zh-CN"/>
              <a:t>deploy-beta</a:t>
            </a:r>
            <a:endParaRPr lang="en-US" altLang="zh-CN"/>
          </a:p>
          <a:p>
            <a:r>
              <a:rPr lang="en-US" altLang="zh-CN"/>
              <a:t>SDP_COMMIT_SHA	</a:t>
            </a:r>
            <a:r>
              <a:rPr lang="zh-CN" altLang="en-US"/>
              <a:t>检出的具体 </a:t>
            </a:r>
            <a:r>
              <a:rPr lang="en-US" altLang="zh-CN"/>
              <a:t>commit,</a:t>
            </a:r>
            <a:r>
              <a:rPr lang="zh-CN" altLang="en-US"/>
              <a:t>来自 </a:t>
            </a:r>
            <a:r>
              <a:rPr lang="en-US" altLang="zh-CN"/>
              <a:t>Repo.Ref</a:t>
            </a:r>
            <a:endParaRPr lang="en-US" altLang="zh-CN"/>
          </a:p>
          <a:p>
            <a:r>
              <a:rPr lang="en-US" altLang="zh-CN"/>
              <a:t>SDP_TENANT_ID / SDP_PROJECT_ID / SDP_ENVIRONMENT_ID	</a:t>
            </a:r>
            <a:r>
              <a:rPr lang="zh-CN" altLang="en-US"/>
              <a:t>多租户上下文</a:t>
            </a:r>
            <a:endParaRPr lang="zh-CN" altLang="en-US"/>
          </a:p>
          <a:p>
            <a:r>
              <a:rPr lang="en-US" altLang="zh-CN"/>
              <a:t>SDP_ARTIFACT_DIR	</a:t>
            </a:r>
            <a:r>
              <a:rPr lang="zh-CN" altLang="en-US"/>
              <a:t>产物读写的本地目录(</a:t>
            </a:r>
            <a:r>
              <a:rPr lang="en-US" altLang="zh-CN"/>
              <a:t>init container </a:t>
            </a:r>
            <a:r>
              <a:rPr lang="zh-CN" altLang="en-US"/>
              <a:t>下载到这、脚本产出也放这,退出后由 </a:t>
            </a:r>
            <a:r>
              <a:rPr lang="en-US" altLang="zh-CN"/>
              <a:t>runner </a:t>
            </a:r>
            <a:r>
              <a:rPr lang="zh-CN" altLang="en-US"/>
              <a:t>自动按 </a:t>
            </a:r>
            <a:r>
              <a:rPr lang="en-US" altLang="zh-CN"/>
              <a:t>Produces </a:t>
            </a:r>
            <a:r>
              <a:rPr lang="zh-CN" altLang="en-US"/>
              <a:t>上传)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这样"部署 </a:t>
            </a:r>
            <a:r>
              <a:rPr lang="en-US" altLang="zh-CN"/>
              <a:t>Beta/Alpha/Gamma"</a:t>
            </a:r>
            <a:r>
              <a:rPr lang="zh-CN" altLang="en-US"/>
              <a:t>三个并行子任务可以复用同一个 </a:t>
            </a:r>
            <a:r>
              <a:rPr lang="en-US" altLang="zh-CN"/>
              <a:t>run.sh,</a:t>
            </a:r>
            <a:r>
              <a:rPr lang="zh-CN" altLang="en-US"/>
              <a:t>靠 </a:t>
            </a:r>
            <a:r>
              <a:rPr lang="en-US" altLang="zh-CN"/>
              <a:t>ScriptArgs: ["beta"] / ["alpha"] / ["gamma"] </a:t>
            </a:r>
            <a:r>
              <a:rPr lang="zh-CN" altLang="en-US"/>
              <a:t>区分目标环境,脚本内部通过参数判断要 </a:t>
            </a:r>
            <a:r>
              <a:rPr lang="en-US" altLang="zh-CN"/>
              <a:t>kubectl apply </a:t>
            </a:r>
            <a:r>
              <a:rPr lang="zh-CN" altLang="en-US"/>
              <a:t>到哪个 </a:t>
            </a:r>
            <a:r>
              <a:rPr lang="en-US" altLang="zh-CN"/>
              <a:t>namespace/context,</a:t>
            </a:r>
            <a:r>
              <a:rPr lang="zh-CN" altLang="en-US"/>
              <a:t>而不需要为每个环境单独写一个脚本文件。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跟前端配置的对应关系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前端"子任务运行命令"这个输入框,实际映射到的就是 </a:t>
            </a:r>
            <a:r>
              <a:rPr lang="en-US" altLang="zh-CN"/>
              <a:t>ScriptPath + ScriptArgs </a:t>
            </a:r>
            <a:r>
              <a:rPr lang="zh-CN" altLang="en-US"/>
              <a:t>两个字段,不是 </a:t>
            </a:r>
            <a:r>
              <a:rPr lang="en-US" altLang="zh-CN"/>
              <a:t>Command(</a:t>
            </a:r>
            <a:r>
              <a:rPr lang="zh-CN" altLang="en-US"/>
              <a:t>那是给不走脚本约定的任务留的逃生舱,比如直接跑一个第三方工具镜像)。建议前端配置项拆成两个:一个下拉/文本填 </a:t>
            </a:r>
            <a:r>
              <a:rPr lang="en-US" altLang="zh-CN"/>
              <a:t>build.sh,</a:t>
            </a:r>
            <a:r>
              <a:rPr lang="zh-CN" altLang="en-US"/>
              <a:t>一个填参数列表(比如部署阶段填 </a:t>
            </a:r>
            <a:r>
              <a:rPr lang="en-US" altLang="zh-CN"/>
              <a:t>beta),</a:t>
            </a:r>
            <a:r>
              <a:rPr lang="zh-CN" altLang="en-US"/>
              <a:t>而不是让用户输入一整条拼接好的 </a:t>
            </a:r>
            <a:r>
              <a:rPr lang="en-US" altLang="zh-CN"/>
              <a:t>shell </a:t>
            </a:r>
            <a:r>
              <a:rPr lang="zh-CN" altLang="en-US"/>
              <a:t>命令字符串——这样后续做脚本合法性校验或参数化模板(比如同一个 </a:t>
            </a:r>
            <a:r>
              <a:rPr lang="en-US" altLang="zh-CN"/>
              <a:t>test.sh </a:t>
            </a:r>
            <a:r>
              <a:rPr lang="zh-CN" altLang="en-US"/>
              <a:t>在不同流水线里传不同的测试套件参数)会更规整。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不一定非要三个,但结合你目前这套设计(</a:t>
            </a:r>
            <a:r>
              <a:rPr lang="en-US" altLang="zh-CN"/>
              <a:t>Hub </a:t>
            </a:r>
            <a:r>
              <a:rPr lang="zh-CN" altLang="en-US"/>
              <a:t>控制平面 + </a:t>
            </a:r>
            <a:r>
              <a:rPr lang="en-US" altLang="zh-CN"/>
              <a:t>Vue3 </a:t>
            </a:r>
            <a:r>
              <a:rPr lang="zh-CN" altLang="en-US"/>
              <a:t>前端 + </a:t>
            </a:r>
            <a:r>
              <a:rPr lang="en-US" altLang="zh-CN"/>
              <a:t>Cluster Agent/Operator),</a:t>
            </a:r>
            <a:r>
              <a:rPr lang="zh-CN" altLang="en-US"/>
              <a:t>我建议**至少拆成三个仓库**,而且拆分逻辑不是随意三等分,是按照**发布节奏和分发对象**来拆的。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 推荐拆分方式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| 仓库 | 内容 | 为什么要独立 |</a:t>
            </a:r>
            <a:endParaRPr lang="zh-CN" altLang="en-US"/>
          </a:p>
          <a:p>
            <a:r>
              <a:rPr lang="en-US" altLang="zh-CN"/>
              <a:t>|---|---|---|</a:t>
            </a:r>
            <a:endParaRPr lang="en-US" altLang="zh-CN"/>
          </a:p>
          <a:p>
            <a:r>
              <a:rPr lang="en-US" altLang="zh-CN"/>
              <a:t>| `frontend` | Vue3 Web </a:t>
            </a:r>
            <a:r>
              <a:rPr lang="zh-CN" altLang="en-US"/>
              <a:t>控制台 | 技术栈完全不同,构建/部署方式(静态资源+</a:t>
            </a:r>
            <a:r>
              <a:rPr lang="en-US" altLang="zh-CN"/>
              <a:t>CDN)</a:t>
            </a:r>
            <a:r>
              <a:rPr lang="zh-CN" altLang="en-US"/>
              <a:t>和后端完全独立,团队也可能不同 |</a:t>
            </a:r>
            <a:endParaRPr lang="zh-CN" altLang="en-US"/>
          </a:p>
          <a:p>
            <a:r>
              <a:rPr lang="en-US" altLang="zh-CN"/>
              <a:t>| `hub` | Go+Gin </a:t>
            </a:r>
            <a:r>
              <a:rPr lang="zh-CN" altLang="en-US"/>
              <a:t>控制平面:多租户、编排、审批、集群路由 | 核心业务逻辑,发布节奏最快,是你们自己内部迭代最频繁的部分 |</a:t>
            </a:r>
            <a:endParaRPr lang="zh-CN" altLang="en-US"/>
          </a:p>
          <a:p>
            <a:r>
              <a:rPr lang="en-US" altLang="zh-CN"/>
              <a:t>| `cluster-agent` | Agent + Operator + CRD </a:t>
            </a:r>
            <a:r>
              <a:rPr lang="zh-CN" altLang="en-US"/>
              <a:t>类型定义(</a:t>
            </a:r>
            <a:r>
              <a:rPr lang="en-US" altLang="zh-CN"/>
              <a:t>kubebuilder </a:t>
            </a:r>
            <a:r>
              <a:rPr lang="zh-CN" altLang="en-US"/>
              <a:t>项目) | **这个必须独立**,原因见下 |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 为什么 </a:t>
            </a:r>
            <a:r>
              <a:rPr lang="en-US" altLang="zh-CN"/>
              <a:t>cluster-agent </a:t>
            </a:r>
            <a:r>
              <a:rPr lang="zh-CN" altLang="en-US"/>
              <a:t>一定要单独拆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这个仓库产出的是要**塞进客户/厂商的 </a:t>
            </a:r>
            <a:r>
              <a:rPr lang="en-US" altLang="zh-CN"/>
              <a:t>K8s </a:t>
            </a:r>
            <a:r>
              <a:rPr lang="zh-CN" altLang="en-US"/>
              <a:t>集群**里运行的东西,跟 </a:t>
            </a:r>
            <a:r>
              <a:rPr lang="en-US" altLang="zh-CN"/>
              <a:t>Hub </a:t>
            </a:r>
            <a:r>
              <a:rPr lang="zh-CN" altLang="en-US"/>
              <a:t>有本质区别: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1. **发布节奏不同**:</a:t>
            </a:r>
            <a:r>
              <a:rPr lang="en-US" altLang="zh-CN"/>
              <a:t>Hub </a:t>
            </a:r>
            <a:r>
              <a:rPr lang="zh-CN" altLang="en-US"/>
              <a:t>你们可以一天发几次版本,但 </a:t>
            </a:r>
            <a:r>
              <a:rPr lang="en-US" altLang="zh-CN"/>
              <a:t>Agent </a:t>
            </a:r>
            <a:r>
              <a:rPr lang="zh-CN" altLang="en-US"/>
              <a:t>跑在别人的生产集群里,升级必须谨慎、要走灰度/兼容性验证,版本号和发布流程需要单独管理</a:t>
            </a:r>
            <a:endParaRPr lang="zh-CN" altLang="en-US"/>
          </a:p>
          <a:p>
            <a:r>
              <a:rPr lang="zh-CN" altLang="en-US"/>
              <a:t>2. **分发物不同**:</a:t>
            </a:r>
            <a:r>
              <a:rPr lang="en-US" altLang="zh-CN"/>
              <a:t>Agent </a:t>
            </a:r>
            <a:r>
              <a:rPr lang="zh-CN" altLang="en-US"/>
              <a:t>最终产出是一个 </a:t>
            </a:r>
            <a:r>
              <a:rPr lang="en-US" altLang="zh-CN"/>
              <a:t>Docker </a:t>
            </a:r>
            <a:r>
              <a:rPr lang="zh-CN" altLang="en-US"/>
              <a:t>镜像 + </a:t>
            </a:r>
            <a:r>
              <a:rPr lang="en-US" altLang="zh-CN"/>
              <a:t>Helm Chart,</a:t>
            </a:r>
            <a:r>
              <a:rPr lang="zh-CN" altLang="en-US"/>
              <a:t>给客户/合作厂商自己部署,不是内部服务,构建流水线、镜像仓库权限都该分开</a:t>
            </a:r>
            <a:endParaRPr lang="zh-CN" altLang="en-US"/>
          </a:p>
          <a:p>
            <a:r>
              <a:rPr lang="zh-CN" altLang="en-US"/>
              <a:t>3. **代码可见性**:如果未来要把 </a:t>
            </a:r>
            <a:r>
              <a:rPr lang="en-US" altLang="zh-CN"/>
              <a:t>Agent </a:t>
            </a:r>
            <a:r>
              <a:rPr lang="zh-CN" altLang="en-US"/>
              <a:t>开源或者给到第三方云厂商合作方看代码(证明安全性),你不会希望他们能看到 </a:t>
            </a:r>
            <a:r>
              <a:rPr lang="en-US" altLang="zh-CN"/>
              <a:t>Hub </a:t>
            </a:r>
            <a:r>
              <a:rPr lang="zh-CN" altLang="en-US"/>
              <a:t>里的核心业务逻辑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 一个容易被忽略的问题:</a:t>
            </a:r>
            <a:r>
              <a:rPr lang="en-US" altLang="zh-CN"/>
              <a:t>CRD </a:t>
            </a:r>
            <a:r>
              <a:rPr lang="zh-CN" altLang="en-US"/>
              <a:t>类型怎么共享?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Hub </a:t>
            </a:r>
            <a:r>
              <a:rPr lang="zh-CN" altLang="en-US"/>
              <a:t>在生成 `</a:t>
            </a:r>
            <a:r>
              <a:rPr lang="en-US" altLang="zh-CN"/>
              <a:t>PipelineRun` CR </a:t>
            </a:r>
            <a:r>
              <a:rPr lang="zh-CN" altLang="en-US"/>
              <a:t>下发的时候,需要用到跟 </a:t>
            </a:r>
            <a:r>
              <a:rPr lang="en-US" altLang="zh-CN"/>
              <a:t>Agent/Operator **</a:t>
            </a:r>
            <a:r>
              <a:rPr lang="zh-CN" altLang="en-US"/>
              <a:t>完全一致的 </a:t>
            </a:r>
            <a:r>
              <a:rPr lang="en-US" altLang="zh-CN"/>
              <a:t>Go struct </a:t>
            </a:r>
            <a:r>
              <a:rPr lang="zh-CN" altLang="en-US"/>
              <a:t>定义**(</a:t>
            </a:r>
            <a:r>
              <a:rPr lang="en-US" altLang="zh-CN"/>
              <a:t>CRD </a:t>
            </a:r>
            <a:r>
              <a:rPr lang="zh-CN" altLang="en-US"/>
              <a:t>的 `</a:t>
            </a:r>
            <a:r>
              <a:rPr lang="en-US" altLang="zh-CN"/>
              <a:t>api/v1alpha1` </a:t>
            </a:r>
            <a:r>
              <a:rPr lang="zh-CN" altLang="en-US"/>
              <a:t>类型),这是两个仓库都要用到的公共部分。两种做法: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- **推荐**:</a:t>
            </a:r>
            <a:r>
              <a:rPr lang="en-US" altLang="zh-CN"/>
              <a:t>CRD </a:t>
            </a:r>
            <a:r>
              <a:rPr lang="zh-CN" altLang="en-US"/>
              <a:t>类型定义放在 `</a:t>
            </a:r>
            <a:r>
              <a:rPr lang="en-US" altLang="zh-CN"/>
              <a:t>cluster-agent` </a:t>
            </a:r>
            <a:r>
              <a:rPr lang="zh-CN" altLang="en-US"/>
              <a:t>仓库的 `</a:t>
            </a:r>
            <a:r>
              <a:rPr lang="en-US" altLang="zh-CN"/>
              <a:t>api/` </a:t>
            </a:r>
            <a:r>
              <a:rPr lang="zh-CN" altLang="en-US"/>
              <a:t>目录下(</a:t>
            </a:r>
            <a:r>
              <a:rPr lang="en-US" altLang="zh-CN"/>
              <a:t>kubebuilder </a:t>
            </a:r>
            <a:r>
              <a:rPr lang="zh-CN" altLang="en-US"/>
              <a:t>的标准结构),`</a:t>
            </a:r>
            <a:r>
              <a:rPr lang="en-US" altLang="zh-CN"/>
              <a:t>hub` </a:t>
            </a:r>
            <a:r>
              <a:rPr lang="zh-CN" altLang="en-US"/>
              <a:t>仓库通过 `</a:t>
            </a:r>
            <a:r>
              <a:rPr lang="en-US" altLang="zh-CN"/>
              <a:t>go get github.com/yourorg/cluster-agent/api/v1alpha1` </a:t>
            </a:r>
            <a:r>
              <a:rPr lang="zh-CN" altLang="en-US"/>
              <a:t>把它当成一个 </a:t>
            </a:r>
            <a:r>
              <a:rPr lang="en-US" altLang="zh-CN"/>
              <a:t>Go module </a:t>
            </a:r>
            <a:r>
              <a:rPr lang="zh-CN" altLang="en-US"/>
              <a:t>依赖引入,不需要再拆第四个仓库。这也是 </a:t>
            </a:r>
            <a:r>
              <a:rPr lang="en-US" altLang="zh-CN"/>
              <a:t>cert-manager、external-dns </a:t>
            </a:r>
            <a:r>
              <a:rPr lang="zh-CN" altLang="en-US"/>
              <a:t>等主流 </a:t>
            </a:r>
            <a:r>
              <a:rPr lang="en-US" altLang="zh-CN"/>
              <a:t>Operator </a:t>
            </a:r>
            <a:r>
              <a:rPr lang="zh-CN" altLang="en-US"/>
              <a:t>项目的通用做法</a:t>
            </a:r>
            <a:endParaRPr lang="zh-CN" altLang="en-US"/>
          </a:p>
          <a:p>
            <a:r>
              <a:rPr lang="zh-CN" altLang="en-US"/>
              <a:t>- 如果以后 </a:t>
            </a:r>
            <a:r>
              <a:rPr lang="en-US" altLang="zh-CN"/>
              <a:t>gRPC/WebSocket </a:t>
            </a:r>
            <a:r>
              <a:rPr lang="zh-CN" altLang="en-US"/>
              <a:t>通信协议(</a:t>
            </a:r>
            <a:r>
              <a:rPr lang="en-US" altLang="zh-CN"/>
              <a:t>proto </a:t>
            </a:r>
            <a:r>
              <a:rPr lang="zh-CN" altLang="en-US"/>
              <a:t>定义)也需要共享,同样放在 `</a:t>
            </a:r>
            <a:r>
              <a:rPr lang="en-US" altLang="zh-CN"/>
              <a:t>cluster-agent` </a:t>
            </a:r>
            <a:r>
              <a:rPr lang="zh-CN" altLang="en-US"/>
              <a:t>的 `</a:t>
            </a:r>
            <a:r>
              <a:rPr lang="en-US" altLang="zh-CN"/>
              <a:t>api/` </a:t>
            </a:r>
            <a:r>
              <a:rPr lang="zh-CN" altLang="en-US"/>
              <a:t>或单独 `</a:t>
            </a:r>
            <a:r>
              <a:rPr lang="en-US" altLang="zh-CN"/>
              <a:t>proto/` </a:t>
            </a:r>
            <a:r>
              <a:rPr lang="zh-CN" altLang="en-US"/>
              <a:t>目录下,`</a:t>
            </a:r>
            <a:r>
              <a:rPr lang="en-US" altLang="zh-CN"/>
              <a:t>hub` </a:t>
            </a:r>
            <a:r>
              <a:rPr lang="zh-CN" altLang="en-US"/>
              <a:t>一并依赖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这样最终是 **3 个仓库 + 1 层 </a:t>
            </a:r>
            <a:r>
              <a:rPr lang="en-US" altLang="zh-CN"/>
              <a:t>go module </a:t>
            </a:r>
            <a:r>
              <a:rPr lang="zh-CN" altLang="en-US"/>
              <a:t>依赖关系**(`</a:t>
            </a:r>
            <a:r>
              <a:rPr lang="en-US" altLang="zh-CN"/>
              <a:t>hub` → `cluster-agent`,</a:t>
            </a:r>
            <a:r>
              <a:rPr lang="zh-CN" altLang="en-US"/>
              <a:t>单向依赖),不需要为了"共享代码"专门再开一个仓库,保持简单。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## 一点额外建议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早期团队小的话,`</a:t>
            </a:r>
            <a:r>
              <a:rPr lang="en-US" altLang="zh-CN"/>
              <a:t>hub` </a:t>
            </a:r>
            <a:r>
              <a:rPr lang="zh-CN" altLang="en-US"/>
              <a:t>和 `</a:t>
            </a:r>
            <a:r>
              <a:rPr lang="en-US" altLang="zh-CN"/>
              <a:t>cluster-agent` </a:t>
            </a:r>
            <a:r>
              <a:rPr lang="zh-CN" altLang="en-US"/>
              <a:t>也可以先放在**同一个仓库**用 </a:t>
            </a:r>
            <a:r>
              <a:rPr lang="en-US" altLang="zh-CN"/>
              <a:t>Go workspace(`go.work`)</a:t>
            </a:r>
            <a:r>
              <a:rPr lang="zh-CN" altLang="en-US"/>
              <a:t>管理成两个 </a:t>
            </a:r>
            <a:r>
              <a:rPr lang="en-US" altLang="zh-CN"/>
              <a:t>module,</a:t>
            </a:r>
            <a:r>
              <a:rPr lang="zh-CN" altLang="en-US"/>
              <a:t>等到真的需要独立发布节奏/独立权限控制时再拆分成物理仓库——拆分成本不高,不用一开始就为了"看起来规范"而过度设计。`</a:t>
            </a:r>
            <a:r>
              <a:rPr lang="en-US" altLang="zh-CN"/>
              <a:t>frontend` </a:t>
            </a:r>
            <a:r>
              <a:rPr lang="zh-CN" altLang="en-US"/>
              <a:t>因为技术栈差异大,建议从一开始就独立仓库。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这几个名字挺好,统一前缀 + 职责后缀,一眼就能看出是同一套系统的哪个部分,也方便后面在 </a:t>
            </a:r>
            <a:r>
              <a:rPr lang="en-US" altLang="zh-CN"/>
              <a:t>CI/CD、</a:t>
            </a:r>
            <a:r>
              <a:rPr lang="zh-CN" altLang="en-US"/>
              <a:t>镜像 </a:t>
            </a:r>
            <a:r>
              <a:rPr lang="en-US" altLang="zh-CN"/>
              <a:t>tag、Helm chart </a:t>
            </a:r>
            <a:r>
              <a:rPr lang="zh-CN" altLang="en-US"/>
              <a:t>命名上保持一致。对应关系是: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| 仓库名 | 对应组件 |</a:t>
            </a:r>
            <a:endParaRPr lang="zh-CN" altLang="en-US"/>
          </a:p>
          <a:p>
            <a:r>
              <a:rPr lang="en-US" altLang="zh-CN"/>
              <a:t>|---|---|</a:t>
            </a:r>
            <a:endParaRPr lang="en-US" altLang="zh-CN"/>
          </a:p>
          <a:p>
            <a:r>
              <a:rPr lang="en-US" altLang="zh-CN"/>
              <a:t>| `software-distribution-platform-console` | Vue3 </a:t>
            </a:r>
            <a:r>
              <a:rPr lang="zh-CN" altLang="en-US"/>
              <a:t>前端控制台 |</a:t>
            </a:r>
            <a:endParaRPr lang="zh-CN" altLang="en-US"/>
          </a:p>
          <a:p>
            <a:r>
              <a:rPr lang="en-US" altLang="zh-CN"/>
              <a:t>| `software-distribution-platform-hub` | Go+Gin </a:t>
            </a:r>
            <a:r>
              <a:rPr lang="zh-CN" altLang="en-US"/>
              <a:t>控制平面(多租户/编排/审批/集群路由) |</a:t>
            </a:r>
            <a:endParaRPr lang="zh-CN" altLang="en-US"/>
          </a:p>
          <a:p>
            <a:r>
              <a:rPr lang="en-US" altLang="zh-CN"/>
              <a:t>| `software-distribution-platform-runner` | Cluster Agent + Operator(</a:t>
            </a:r>
            <a:r>
              <a:rPr lang="zh-CN" altLang="en-US"/>
              <a:t>跑在各目标 </a:t>
            </a:r>
            <a:r>
              <a:rPr lang="en-US" altLang="zh-CN"/>
              <a:t>K8s </a:t>
            </a:r>
            <a:r>
              <a:rPr lang="zh-CN" altLang="en-US"/>
              <a:t>集群里) |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`runner` </a:t>
            </a:r>
            <a:r>
              <a:rPr lang="zh-CN" altLang="en-US"/>
              <a:t>这个名字其实比我之前说的 `</a:t>
            </a:r>
            <a:r>
              <a:rPr lang="en-US" altLang="zh-CN"/>
              <a:t>cluster-agent`</a:t>
            </a:r>
            <a:r>
              <a:rPr lang="zh-CN" altLang="en-US"/>
              <a:t>更贴切——它不只是"桥接通信",还承担实际执行(</a:t>
            </a:r>
            <a:r>
              <a:rPr lang="en-US" altLang="zh-CN"/>
              <a:t>Reconcile、</a:t>
            </a:r>
            <a:r>
              <a:rPr lang="zh-CN" altLang="en-US"/>
              <a:t>创建 </a:t>
            </a:r>
            <a:r>
              <a:rPr lang="en-US" altLang="zh-CN"/>
              <a:t>Job/Deployment)</a:t>
            </a:r>
            <a:r>
              <a:rPr lang="zh-CN" altLang="en-US"/>
              <a:t>的角色,叫 </a:t>
            </a:r>
            <a:r>
              <a:rPr lang="en-US" altLang="zh-CN"/>
              <a:t>runner </a:t>
            </a:r>
            <a:r>
              <a:rPr lang="zh-CN" altLang="en-US"/>
              <a:t>更准确地传达了"这是干活的那个东西"。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几个跟命名配套的建议,供参考: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- **镜像/</a:t>
            </a:r>
            <a:r>
              <a:rPr lang="en-US" altLang="zh-CN"/>
              <a:t>Chart </a:t>
            </a:r>
            <a:r>
              <a:rPr lang="zh-CN" altLang="en-US"/>
              <a:t>命名跟仓库名对齐**:比如 `</a:t>
            </a:r>
            <a:r>
              <a:rPr lang="en-US" altLang="zh-CN"/>
              <a:t>runner` </a:t>
            </a:r>
            <a:r>
              <a:rPr lang="zh-CN" altLang="en-US"/>
              <a:t>的 </a:t>
            </a:r>
            <a:r>
              <a:rPr lang="en-US" altLang="zh-CN"/>
              <a:t>Docker </a:t>
            </a:r>
            <a:r>
              <a:rPr lang="zh-CN" altLang="en-US"/>
              <a:t>镜像就叫 `</a:t>
            </a:r>
            <a:r>
              <a:rPr lang="en-US" altLang="zh-CN"/>
              <a:t>software-distribution-platform-runner`,Helm chart </a:t>
            </a:r>
            <a:r>
              <a:rPr lang="zh-CN" altLang="en-US"/>
              <a:t>也同名,客户在自己集群里 `</a:t>
            </a:r>
            <a:r>
              <a:rPr lang="en-US" altLang="zh-CN"/>
              <a:t>helm install` </a:t>
            </a:r>
            <a:r>
              <a:rPr lang="zh-CN" altLang="en-US"/>
              <a:t>时一眼能对上仓库</a:t>
            </a:r>
            <a:endParaRPr lang="zh-CN" altLang="en-US"/>
          </a:p>
          <a:p>
            <a:r>
              <a:rPr lang="en-US" altLang="zh-CN"/>
              <a:t>- **`hub` </a:t>
            </a:r>
            <a:r>
              <a:rPr lang="zh-CN" altLang="en-US"/>
              <a:t>对 `</a:t>
            </a:r>
            <a:r>
              <a:rPr lang="en-US" altLang="zh-CN"/>
              <a:t>runner` </a:t>
            </a:r>
            <a:r>
              <a:rPr lang="zh-CN" altLang="en-US"/>
              <a:t>的依赖**:`</a:t>
            </a:r>
            <a:r>
              <a:rPr lang="en-US" altLang="zh-CN"/>
              <a:t>hub` </a:t>
            </a:r>
            <a:r>
              <a:rPr lang="zh-CN" altLang="en-US"/>
              <a:t>仓库里 `</a:t>
            </a:r>
            <a:r>
              <a:rPr lang="en-US" altLang="zh-CN"/>
              <a:t>go.mod` </a:t>
            </a:r>
            <a:r>
              <a:rPr lang="zh-CN" altLang="en-US"/>
              <a:t>引入 </a:t>
            </a:r>
            <a:r>
              <a:rPr lang="en-US" altLang="zh-CN"/>
              <a:t>CRD </a:t>
            </a:r>
            <a:r>
              <a:rPr lang="zh-CN" altLang="en-US"/>
              <a:t>类型时会是 `</a:t>
            </a:r>
            <a:r>
              <a:rPr lang="en-US" altLang="zh-CN"/>
              <a:t>github.com/yourorg/software-distribution-platform-runner/api/v1alpha1`,</a:t>
            </a:r>
            <a:r>
              <a:rPr lang="zh-CN" altLang="en-US"/>
              <a:t>路径有点长但语义清楚,不用担心</a:t>
            </a:r>
            <a:endParaRPr lang="zh-CN" altLang="en-US"/>
          </a:p>
          <a:p>
            <a:r>
              <a:rPr lang="en-US" altLang="zh-CN"/>
              <a:t>- **CRD </a:t>
            </a:r>
            <a:r>
              <a:rPr lang="zh-CN" altLang="en-US"/>
              <a:t>的 </a:t>
            </a:r>
            <a:r>
              <a:rPr lang="en-US" altLang="zh-CN"/>
              <a:t>API Group </a:t>
            </a:r>
            <a:r>
              <a:rPr lang="zh-CN" altLang="en-US"/>
              <a:t>建议**:不一定要跟仓库名绑死,可以单独定义得更简洁一点,比如 `</a:t>
            </a:r>
            <a:r>
              <a:rPr lang="en-US" altLang="zh-CN"/>
              <a:t>pipeline.sdp.io/v1alpha1`(sdp = software distribution platform),</a:t>
            </a:r>
            <a:r>
              <a:rPr lang="zh-CN" altLang="en-US"/>
              <a:t>这样将来即使仓库改名,</a:t>
            </a:r>
            <a:r>
              <a:rPr lang="en-US" altLang="zh-CN"/>
              <a:t>CRD </a:t>
            </a:r>
            <a:r>
              <a:rPr lang="zh-CN" altLang="en-US"/>
              <a:t>的 </a:t>
            </a:r>
            <a:r>
              <a:rPr lang="en-US" altLang="zh-CN"/>
              <a:t>apiVersion </a:t>
            </a:r>
            <a:r>
              <a:rPr lang="zh-CN" altLang="en-US"/>
              <a:t>也不用跟着变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要不要我帮你把这三个仓库的初始目录结构列一下?比如 `</a:t>
            </a:r>
            <a:r>
              <a:rPr lang="en-US" altLang="zh-CN"/>
              <a:t>runner` </a:t>
            </a:r>
            <a:r>
              <a:rPr lang="zh-CN" altLang="en-US"/>
              <a:t>仓库按 </a:t>
            </a:r>
            <a:r>
              <a:rPr lang="en-US" altLang="zh-CN"/>
              <a:t>kubebuilder </a:t>
            </a:r>
            <a:r>
              <a:rPr lang="zh-CN" altLang="en-US"/>
              <a:t>标准结构(`</a:t>
            </a:r>
            <a:r>
              <a:rPr lang="en-US" altLang="zh-CN"/>
              <a:t>api/`、`controllers/`、`cmd/`),`hub` </a:t>
            </a:r>
            <a:r>
              <a:rPr lang="zh-CN" altLang="en-US"/>
              <a:t>按 </a:t>
            </a:r>
            <a:r>
              <a:rPr lang="en-US" altLang="zh-CN"/>
              <a:t>Go </a:t>
            </a:r>
            <a:r>
              <a:rPr lang="zh-CN" altLang="en-US"/>
              <a:t>项目常见分层(`</a:t>
            </a:r>
            <a:r>
              <a:rPr lang="en-US" altLang="zh-CN"/>
              <a:t>internal/handler`、`internal/service`、`internal/repository`)</a:t>
            </a:r>
            <a:r>
              <a:rPr lang="zh-CN" altLang="en-US"/>
              <a:t>这样,方便你直接建仓库时对照着搭。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下面是三个仓库的初始目录结构,按各自的技术栈惯例来组织。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## 1. `software-distribution-platform-console`(Vue3 </a:t>
            </a:r>
            <a:r>
              <a:rPr lang="zh-CN" altLang="en-US"/>
              <a:t>前端)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```</a:t>
            </a:r>
            <a:endParaRPr lang="en-US" altLang="zh-CN"/>
          </a:p>
          <a:p>
            <a:r>
              <a:rPr lang="en-US" altLang="zh-CN"/>
              <a:t>software-distribution-platform-console/</a:t>
            </a:r>
            <a:endParaRPr lang="en-US" altLang="zh-CN"/>
          </a:p>
          <a:p>
            <a:r>
              <a:rPr lang="en-US" altLang="zh-CN"/>
              <a:t>├── public/</a:t>
            </a:r>
            <a:endParaRPr lang="en-US" altLang="zh-CN"/>
          </a:p>
          <a:p>
            <a:r>
              <a:rPr lang="en-US" altLang="zh-CN"/>
              <a:t>├── src/</a:t>
            </a:r>
            <a:endParaRPr lang="en-US" altLang="zh-CN"/>
          </a:p>
          <a:p>
            <a:r>
              <a:rPr lang="en-US" altLang="zh-CN"/>
              <a:t>│   ├── api/                    # </a:t>
            </a:r>
            <a:r>
              <a:rPr lang="zh-CN" altLang="en-US"/>
              <a:t>后端接口封装(对接 </a:t>
            </a:r>
            <a:r>
              <a:rPr lang="en-US" altLang="zh-CN"/>
              <a:t>hub </a:t>
            </a:r>
            <a:r>
              <a:rPr lang="zh-CN" altLang="en-US"/>
              <a:t>的 </a:t>
            </a:r>
            <a:r>
              <a:rPr lang="en-US" altLang="zh-CN"/>
              <a:t>REST API)</a:t>
            </a:r>
            <a:endParaRPr lang="en-US" altLang="zh-CN"/>
          </a:p>
          <a:p>
            <a:r>
              <a:rPr lang="en-US" altLang="zh-CN"/>
              <a:t>│   │   ├── pipeline.ts</a:t>
            </a:r>
            <a:endParaRPr lang="en-US" altLang="zh-CN"/>
          </a:p>
          <a:p>
            <a:r>
              <a:rPr lang="en-US" altLang="zh-CN"/>
              <a:t>│   │   ├── approval.ts</a:t>
            </a:r>
            <a:endParaRPr lang="en-US" altLang="zh-CN"/>
          </a:p>
          <a:p>
            <a:r>
              <a:rPr lang="en-US" altLang="zh-CN"/>
              <a:t>│   │   ├── cluster.ts</a:t>
            </a:r>
            <a:endParaRPr lang="en-US" altLang="zh-CN"/>
          </a:p>
          <a:p>
            <a:r>
              <a:rPr lang="en-US" altLang="zh-CN"/>
              <a:t>│   │   └── auth.ts</a:t>
            </a:r>
            <a:endParaRPr lang="en-US" altLang="zh-CN"/>
          </a:p>
          <a:p>
            <a:r>
              <a:rPr lang="en-US" altLang="zh-CN"/>
              <a:t>│   ├── assets/</a:t>
            </a:r>
            <a:endParaRPr lang="en-US" altLang="zh-CN"/>
          </a:p>
          <a:p>
            <a:r>
              <a:rPr lang="en-US" altLang="zh-CN"/>
              <a:t>│   ├── components/</a:t>
            </a:r>
            <a:endParaRPr lang="en-US" altLang="zh-CN"/>
          </a:p>
          <a:p>
            <a:r>
              <a:rPr lang="en-US" altLang="zh-CN"/>
              <a:t>│   │   ├── dag-editor/         # </a:t>
            </a:r>
            <a:r>
              <a:rPr lang="zh-CN" altLang="en-US"/>
              <a:t>可视化编排核心组件(拖拽 </a:t>
            </a:r>
            <a:r>
              <a:rPr lang="en-US" altLang="zh-CN"/>
              <a:t>DAG)</a:t>
            </a:r>
            <a:endParaRPr lang="en-US" altLang="zh-CN"/>
          </a:p>
          <a:p>
            <a:r>
              <a:rPr lang="en-US" altLang="zh-CN"/>
              <a:t>│   │   │   ├── DagCanvas.vue</a:t>
            </a:r>
            <a:endParaRPr lang="en-US" altLang="zh-CN"/>
          </a:p>
          <a:p>
            <a:r>
              <a:rPr lang="en-US" altLang="zh-CN"/>
              <a:t>│   │   │   ├── NodePanel.vue</a:t>
            </a:r>
            <a:endParaRPr lang="en-US" altLang="zh-CN"/>
          </a:p>
          <a:p>
            <a:r>
              <a:rPr lang="en-US" altLang="zh-CN"/>
              <a:t>│   │   │   └── EdgeConnector.vue</a:t>
            </a:r>
            <a:endParaRPr lang="en-US" altLang="zh-CN"/>
          </a:p>
          <a:p>
            <a:r>
              <a:rPr lang="en-US" altLang="zh-CN"/>
              <a:t>│   │   ├── approval/</a:t>
            </a:r>
            <a:endParaRPr lang="en-US" altLang="zh-CN"/>
          </a:p>
          <a:p>
            <a:r>
              <a:rPr lang="en-US" altLang="zh-CN"/>
              <a:t>│   │   ├── rollout-monitor/     # </a:t>
            </a:r>
            <a:r>
              <a:rPr lang="zh-CN" altLang="en-US"/>
              <a:t>灰度发布进度可视化</a:t>
            </a:r>
            <a:endParaRPr lang="zh-CN" altLang="en-US"/>
          </a:p>
          <a:p>
            <a:r>
              <a:rPr lang="en-US" altLang="zh-CN"/>
              <a:t>│   │   └── common/</a:t>
            </a:r>
            <a:endParaRPr lang="en-US" altLang="zh-CN"/>
          </a:p>
          <a:p>
            <a:r>
              <a:rPr lang="en-US" altLang="zh-CN"/>
              <a:t>│   ├── views/</a:t>
            </a:r>
            <a:endParaRPr lang="en-US" altLang="zh-CN"/>
          </a:p>
          <a:p>
            <a:r>
              <a:rPr lang="en-US" altLang="zh-CN"/>
              <a:t>│   │   ├── pipelines/</a:t>
            </a:r>
            <a:endParaRPr lang="en-US" altLang="zh-CN"/>
          </a:p>
          <a:p>
            <a:r>
              <a:rPr lang="en-US" altLang="zh-CN"/>
              <a:t>│   │   ├── clusters/</a:t>
            </a:r>
            <a:endParaRPr lang="en-US" altLang="zh-CN"/>
          </a:p>
          <a:p>
            <a:r>
              <a:rPr lang="en-US" altLang="zh-CN"/>
              <a:t>│   │   ├── approvals/</a:t>
            </a:r>
            <a:endParaRPr lang="en-US" altLang="zh-CN"/>
          </a:p>
          <a:p>
            <a:r>
              <a:rPr lang="en-US" altLang="zh-CN"/>
              <a:t>│   │   ├── environments/</a:t>
            </a:r>
            <a:endParaRPr lang="en-US" altLang="zh-CN"/>
          </a:p>
          <a:p>
            <a:r>
              <a:rPr lang="en-US" altLang="zh-CN"/>
              <a:t>│   │   └── settings/</a:t>
            </a:r>
            <a:endParaRPr lang="en-US" altLang="zh-CN"/>
          </a:p>
          <a:p>
            <a:r>
              <a:rPr lang="en-US" altLang="zh-CN"/>
              <a:t>│   ├── stores/                 # Pinia</a:t>
            </a:r>
            <a:endParaRPr lang="en-US" altLang="zh-CN"/>
          </a:p>
          <a:p>
            <a:r>
              <a:rPr lang="en-US" altLang="zh-CN"/>
              <a:t>│   │   ├── user.ts</a:t>
            </a:r>
            <a:endParaRPr lang="en-US" altLang="zh-CN"/>
          </a:p>
          <a:p>
            <a:r>
              <a:rPr lang="en-US" altLang="zh-CN"/>
              <a:t>│   │   ├── pipeline.ts</a:t>
            </a:r>
            <a:endParaRPr lang="en-US" altLang="zh-CN"/>
          </a:p>
          <a:p>
            <a:r>
              <a:rPr lang="en-US" altLang="zh-CN"/>
              <a:t>│   │   └── tenant.ts</a:t>
            </a:r>
            <a:endParaRPr lang="en-US" altLang="zh-CN"/>
          </a:p>
          <a:p>
            <a:r>
              <a:rPr lang="en-US" altLang="zh-CN"/>
              <a:t>│   ├── router/</a:t>
            </a:r>
            <a:endParaRPr lang="en-US" altLang="zh-CN"/>
          </a:p>
          <a:p>
            <a:r>
              <a:rPr lang="en-US" altLang="zh-CN"/>
              <a:t>│   ├── composables/            # </a:t>
            </a:r>
            <a:r>
              <a:rPr lang="zh-CN" altLang="en-US"/>
              <a:t>可复用逻辑(如 </a:t>
            </a:r>
            <a:r>
              <a:rPr lang="en-US" altLang="zh-CN"/>
              <a:t>useWebSocketLog)</a:t>
            </a:r>
            <a:endParaRPr lang="en-US" altLang="zh-CN"/>
          </a:p>
          <a:p>
            <a:r>
              <a:rPr lang="en-US" altLang="zh-CN"/>
              <a:t>│   ├── types/                  # </a:t>
            </a:r>
            <a:r>
              <a:rPr lang="zh-CN" altLang="en-US"/>
              <a:t>与后端共享的类型定义(可用 </a:t>
            </a:r>
            <a:r>
              <a:rPr lang="en-US" altLang="zh-CN"/>
              <a:t>openapi-typescript </a:t>
            </a:r>
            <a:r>
              <a:rPr lang="zh-CN" altLang="en-US"/>
              <a:t>生成)</a:t>
            </a:r>
            <a:endParaRPr lang="zh-CN" altLang="en-US"/>
          </a:p>
          <a:p>
            <a:r>
              <a:rPr lang="en-US" altLang="zh-CN"/>
              <a:t>│   ├── App.vue</a:t>
            </a:r>
            <a:endParaRPr lang="en-US" altLang="zh-CN"/>
          </a:p>
          <a:p>
            <a:r>
              <a:rPr lang="en-US" altLang="zh-CN"/>
              <a:t>│   └── main.ts</a:t>
            </a:r>
            <a:endParaRPr lang="en-US" altLang="zh-CN"/>
          </a:p>
          <a:p>
            <a:r>
              <a:rPr lang="en-US" altLang="zh-CN"/>
              <a:t>├── .env.development</a:t>
            </a:r>
            <a:endParaRPr lang="en-US" altLang="zh-CN"/>
          </a:p>
          <a:p>
            <a:r>
              <a:rPr lang="en-US" altLang="zh-CN"/>
              <a:t>├── .env.production</a:t>
            </a:r>
            <a:endParaRPr lang="en-US" altLang="zh-CN"/>
          </a:p>
          <a:p>
            <a:r>
              <a:rPr lang="en-US" altLang="zh-CN"/>
              <a:t>├── vite.config.ts</a:t>
            </a:r>
            <a:endParaRPr lang="en-US" altLang="zh-CN"/>
          </a:p>
          <a:p>
            <a:r>
              <a:rPr lang="en-US" altLang="zh-CN"/>
              <a:t>├── tsconfig.json</a:t>
            </a:r>
            <a:endParaRPr lang="en-US" altLang="zh-CN"/>
          </a:p>
          <a:p>
            <a:r>
              <a:rPr lang="en-US" altLang="zh-CN"/>
              <a:t>└── package.json</a:t>
            </a:r>
            <a:endParaRPr lang="en-US" altLang="zh-CN"/>
          </a:p>
          <a:p>
            <a:r>
              <a:rPr lang="en-US" altLang="zh-CN"/>
              <a:t>```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## 2. `software-distribution-platform-hub`(Go + Gin </a:t>
            </a:r>
            <a:r>
              <a:rPr lang="zh-CN" altLang="en-US"/>
              <a:t>控制平面)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```</a:t>
            </a:r>
            <a:endParaRPr lang="en-US" altLang="zh-CN"/>
          </a:p>
          <a:p>
            <a:r>
              <a:rPr lang="en-US" altLang="zh-CN"/>
              <a:t>software-distribution-platform-hub/</a:t>
            </a:r>
            <a:endParaRPr lang="en-US" altLang="zh-CN"/>
          </a:p>
          <a:p>
            <a:r>
              <a:rPr lang="en-US" altLang="zh-CN"/>
              <a:t>├── cmd/</a:t>
            </a:r>
            <a:endParaRPr lang="en-US" altLang="zh-CN"/>
          </a:p>
          <a:p>
            <a:r>
              <a:rPr lang="en-US" altLang="zh-CN"/>
              <a:t>│   └── hub/</a:t>
            </a:r>
            <a:endParaRPr lang="en-US" altLang="zh-CN"/>
          </a:p>
          <a:p>
            <a:r>
              <a:rPr lang="en-US" altLang="zh-CN"/>
              <a:t>│       └── main.go             # </a:t>
            </a:r>
            <a:r>
              <a:rPr lang="zh-CN" altLang="en-US"/>
              <a:t>入口:启动 </a:t>
            </a:r>
            <a:r>
              <a:rPr lang="en-US" altLang="zh-CN"/>
              <a:t>Gin server + </a:t>
            </a:r>
            <a:r>
              <a:rPr lang="zh-CN" altLang="en-US"/>
              <a:t>长连接网关</a:t>
            </a:r>
            <a:endParaRPr lang="zh-CN" altLang="en-US"/>
          </a:p>
          <a:p>
            <a:r>
              <a:rPr lang="en-US" altLang="zh-CN"/>
              <a:t>├── internal/</a:t>
            </a:r>
            <a:endParaRPr lang="en-US" altLang="zh-CN"/>
          </a:p>
          <a:p>
            <a:r>
              <a:rPr lang="en-US" altLang="zh-CN"/>
              <a:t>│   ├── handler/                # HTTP handler(Gin</a:t>
            </a:r>
            <a:r>
              <a:rPr lang="zh-CN" altLang="en-US"/>
              <a:t>路由层)</a:t>
            </a:r>
            <a:endParaRPr lang="zh-CN" altLang="en-US"/>
          </a:p>
          <a:p>
            <a:r>
              <a:rPr lang="en-US" altLang="zh-CN"/>
              <a:t>│   │   ├── pipeline_handler.go</a:t>
            </a:r>
            <a:endParaRPr lang="en-US" altLang="zh-CN"/>
          </a:p>
          <a:p>
            <a:r>
              <a:rPr lang="en-US" altLang="zh-CN"/>
              <a:t>│   │   ├── approval_handler.go</a:t>
            </a:r>
            <a:endParaRPr lang="en-US" altLang="zh-CN"/>
          </a:p>
          <a:p>
            <a:r>
              <a:rPr lang="en-US" altLang="zh-CN"/>
              <a:t>│   │   ├── cluster_handler.go</a:t>
            </a:r>
            <a:endParaRPr lang="en-US" altLang="zh-CN"/>
          </a:p>
          <a:p>
            <a:r>
              <a:rPr lang="en-US" altLang="zh-CN"/>
              <a:t>│   │   └── auth_handler.go</a:t>
            </a:r>
            <a:endParaRPr lang="en-US" altLang="zh-CN"/>
          </a:p>
          <a:p>
            <a:r>
              <a:rPr lang="en-US" altLang="zh-CN"/>
              <a:t>│   ├── service/                # </a:t>
            </a:r>
            <a:r>
              <a:rPr lang="zh-CN" altLang="en-US"/>
              <a:t>业务逻辑层</a:t>
            </a:r>
            <a:endParaRPr lang="zh-CN" altLang="en-US"/>
          </a:p>
          <a:p>
            <a:r>
              <a:rPr lang="en-US" altLang="zh-CN"/>
              <a:t>│   │   ├── pipeline_service.go</a:t>
            </a:r>
            <a:endParaRPr lang="en-US" altLang="zh-CN"/>
          </a:p>
          <a:p>
            <a:r>
              <a:rPr lang="en-US" altLang="zh-CN"/>
              <a:t>│   │   ├── approval_service.go</a:t>
            </a:r>
            <a:endParaRPr lang="en-US" altLang="zh-CN"/>
          </a:p>
          <a:p>
            <a:r>
              <a:rPr lang="en-US" altLang="zh-CN"/>
              <a:t>│   │   ├── cluster_registry_service.go</a:t>
            </a:r>
            <a:endParaRPr lang="en-US" altLang="zh-CN"/>
          </a:p>
          <a:p>
            <a:r>
              <a:rPr lang="en-US" altLang="zh-CN"/>
              <a:t>│   │   └── tenant_service.go</a:t>
            </a:r>
            <a:endParaRPr lang="en-US" altLang="zh-CN"/>
          </a:p>
          <a:p>
            <a:r>
              <a:rPr lang="en-US" altLang="zh-CN"/>
              <a:t>│   ├── repository/             # </a:t>
            </a:r>
            <a:r>
              <a:rPr lang="zh-CN" altLang="en-US"/>
              <a:t>数据访问层(</a:t>
            </a:r>
            <a:r>
              <a:rPr lang="en-US" altLang="zh-CN"/>
              <a:t>GORM/Ent)</a:t>
            </a:r>
            <a:endParaRPr lang="en-US" altLang="zh-CN"/>
          </a:p>
          <a:p>
            <a:r>
              <a:rPr lang="en-US" altLang="zh-CN"/>
              <a:t>│   │   ├── pipeline_repo.go</a:t>
            </a:r>
            <a:endParaRPr lang="en-US" altLang="zh-CN"/>
          </a:p>
          <a:p>
            <a:r>
              <a:rPr lang="en-US" altLang="zh-CN"/>
              <a:t>│   │   ├── run_repo.go</a:t>
            </a:r>
            <a:endParaRPr lang="en-US" altLang="zh-CN"/>
          </a:p>
          <a:p>
            <a:r>
              <a:rPr lang="en-US" altLang="zh-CN"/>
              <a:t>│   │   └── cluster_repo.go</a:t>
            </a:r>
            <a:endParaRPr lang="en-US" altLang="zh-CN"/>
          </a:p>
          <a:p>
            <a:r>
              <a:rPr lang="en-US" altLang="zh-CN"/>
              <a:t>│   ├── gateway/                 # </a:t>
            </a:r>
            <a:r>
              <a:rPr lang="zh-CN" altLang="en-US"/>
              <a:t>与各集群 </a:t>
            </a:r>
            <a:r>
              <a:rPr lang="en-US" altLang="zh-CN"/>
              <a:t>Runner </a:t>
            </a:r>
            <a:r>
              <a:rPr lang="zh-CN" altLang="en-US"/>
              <a:t>的长连接网关</a:t>
            </a:r>
            <a:endParaRPr lang="zh-CN" altLang="en-US"/>
          </a:p>
          <a:p>
            <a:r>
              <a:rPr lang="en-US" altLang="zh-CN"/>
              <a:t>│   │   ├── grpc_server.go       # </a:t>
            </a:r>
            <a:r>
              <a:rPr lang="zh-CN" altLang="en-US"/>
              <a:t>或 </a:t>
            </a:r>
            <a:r>
              <a:rPr lang="en-US" altLang="zh-CN"/>
              <a:t>websocket_server.go</a:t>
            </a:r>
            <a:endParaRPr lang="en-US" altLang="zh-CN"/>
          </a:p>
          <a:p>
            <a:r>
              <a:rPr lang="en-US" altLang="zh-CN"/>
              <a:t>│   │   ├── connection_pool.go   # </a:t>
            </a:r>
            <a:r>
              <a:rPr lang="zh-CN" altLang="en-US"/>
              <a:t>维护每个集群的活跃连接</a:t>
            </a:r>
            <a:endParaRPr lang="zh-CN" altLang="en-US"/>
          </a:p>
          <a:p>
            <a:r>
              <a:rPr lang="en-US" altLang="zh-CN"/>
              <a:t>│   │   └── dispatcher.go        # </a:t>
            </a:r>
            <a:r>
              <a:rPr lang="zh-CN" altLang="en-US"/>
              <a:t>任务下发路由逻辑</a:t>
            </a:r>
            <a:endParaRPr lang="zh-CN" altLang="en-US"/>
          </a:p>
          <a:p>
            <a:r>
              <a:rPr lang="en-US" altLang="zh-CN"/>
              <a:t>│   ├── middleware/</a:t>
            </a:r>
            <a:endParaRPr lang="en-US" altLang="zh-CN"/>
          </a:p>
          <a:p>
            <a:r>
              <a:rPr lang="en-US" altLang="zh-CN"/>
              <a:t>│   │   ├── auth.go</a:t>
            </a:r>
            <a:endParaRPr lang="en-US" altLang="zh-CN"/>
          </a:p>
          <a:p>
            <a:r>
              <a:rPr lang="en-US" altLang="zh-CN"/>
              <a:t>│   │   ├── tenant_isolation.go</a:t>
            </a:r>
            <a:endParaRPr lang="en-US" altLang="zh-CN"/>
          </a:p>
          <a:p>
            <a:r>
              <a:rPr lang="en-US" altLang="zh-CN"/>
              <a:t>│   │   └── rbac.go</a:t>
            </a:r>
            <a:endParaRPr lang="en-US" altLang="zh-CN"/>
          </a:p>
          <a:p>
            <a:r>
              <a:rPr lang="en-US" altLang="zh-CN"/>
              <a:t>│   ├── model/                   # </a:t>
            </a:r>
            <a:r>
              <a:rPr lang="zh-CN" altLang="en-US"/>
              <a:t>数据库模型</a:t>
            </a:r>
            <a:endParaRPr lang="zh-CN" altLang="en-US"/>
          </a:p>
          <a:p>
            <a:r>
              <a:rPr lang="en-US" altLang="zh-CN"/>
              <a:t>│   └── config/</a:t>
            </a:r>
            <a:endParaRPr lang="en-US" altLang="zh-CN"/>
          </a:p>
          <a:p>
            <a:r>
              <a:rPr lang="en-US" altLang="zh-CN"/>
              <a:t>├── pkg/</a:t>
            </a:r>
            <a:endParaRPr lang="en-US" altLang="zh-CN"/>
          </a:p>
          <a:p>
            <a:r>
              <a:rPr lang="en-US" altLang="zh-CN"/>
              <a:t>│   ├── dsl/                     # </a:t>
            </a:r>
            <a:r>
              <a:rPr lang="zh-CN" altLang="en-US"/>
              <a:t>流水线 </a:t>
            </a:r>
            <a:r>
              <a:rPr lang="en-US" altLang="zh-CN"/>
              <a:t>DSL </a:t>
            </a:r>
            <a:r>
              <a:rPr lang="zh-CN" altLang="en-US"/>
              <a:t>解析器(</a:t>
            </a:r>
            <a:r>
              <a:rPr lang="en-US" altLang="zh-CN"/>
              <a:t>YAML/JSON -&gt; DAG</a:t>
            </a:r>
            <a:r>
              <a:rPr lang="zh-CN" altLang="en-US"/>
              <a:t>结构)</a:t>
            </a:r>
            <a:endParaRPr lang="zh-CN" altLang="en-US"/>
          </a:p>
          <a:p>
            <a:r>
              <a:rPr lang="en-US" altLang="zh-CN"/>
              <a:t>│   └── dagscheduler/            # DAG </a:t>
            </a:r>
            <a:r>
              <a:rPr lang="zh-CN" altLang="en-US"/>
              <a:t>拓扑排序/推进算法</a:t>
            </a:r>
            <a:endParaRPr lang="zh-CN" altLang="en-US"/>
          </a:p>
          <a:p>
            <a:r>
              <a:rPr lang="en-US" altLang="zh-CN"/>
              <a:t>├── api/</a:t>
            </a:r>
            <a:endParaRPr lang="en-US" altLang="zh-CN"/>
          </a:p>
          <a:p>
            <a:r>
              <a:rPr lang="en-US" altLang="zh-CN"/>
              <a:t>│   └── proto/                   # </a:t>
            </a:r>
            <a:r>
              <a:rPr lang="zh-CN" altLang="en-US"/>
              <a:t>若用 </a:t>
            </a:r>
            <a:r>
              <a:rPr lang="en-US" altLang="zh-CN"/>
              <a:t>gRPC,</a:t>
            </a:r>
            <a:r>
              <a:rPr lang="zh-CN" altLang="en-US"/>
              <a:t>存放 .</a:t>
            </a:r>
            <a:r>
              <a:rPr lang="en-US" altLang="zh-CN"/>
              <a:t>proto </a:t>
            </a:r>
            <a:r>
              <a:rPr lang="zh-CN" altLang="en-US"/>
              <a:t>定义(</a:t>
            </a:r>
            <a:r>
              <a:rPr lang="en-US" altLang="zh-CN"/>
              <a:t>hub&lt;-&gt;runner </a:t>
            </a:r>
            <a:r>
              <a:rPr lang="zh-CN" altLang="en-US"/>
              <a:t>通信协议)</a:t>
            </a:r>
            <a:endParaRPr lang="zh-CN" altLang="en-US"/>
          </a:p>
          <a:p>
            <a:r>
              <a:rPr lang="en-US" altLang="zh-CN"/>
              <a:t>├── migrations/                  # </a:t>
            </a:r>
            <a:r>
              <a:rPr lang="zh-CN" altLang="en-US"/>
              <a:t>数据库迁移脚本</a:t>
            </a:r>
            <a:endParaRPr lang="zh-CN" altLang="en-US"/>
          </a:p>
          <a:p>
            <a:r>
              <a:rPr lang="en-US" altLang="zh-CN"/>
              <a:t>├── deploy/</a:t>
            </a:r>
            <a:endParaRPr lang="en-US" altLang="zh-CN"/>
          </a:p>
          <a:p>
            <a:r>
              <a:rPr lang="en-US" altLang="zh-CN"/>
              <a:t>│   ├── Dockerfile</a:t>
            </a:r>
            <a:endParaRPr lang="en-US" altLang="zh-CN"/>
          </a:p>
          <a:p>
            <a:r>
              <a:rPr lang="en-US" altLang="zh-CN"/>
              <a:t>│   └── helm/</a:t>
            </a:r>
            <a:endParaRPr lang="en-US" altLang="zh-CN"/>
          </a:p>
          <a:p>
            <a:r>
              <a:rPr lang="en-US" altLang="zh-CN"/>
              <a:t>├── configs/</a:t>
            </a:r>
            <a:endParaRPr lang="en-US" altLang="zh-CN"/>
          </a:p>
          <a:p>
            <a:r>
              <a:rPr lang="en-US" altLang="zh-CN"/>
              <a:t>│   └── config.yaml</a:t>
            </a:r>
            <a:endParaRPr lang="en-US" altLang="zh-CN"/>
          </a:p>
          <a:p>
            <a:r>
              <a:rPr lang="en-US" altLang="zh-CN"/>
              <a:t>├── go.mod</a:t>
            </a:r>
            <a:endParaRPr lang="en-US" altLang="zh-CN"/>
          </a:p>
          <a:p>
            <a:r>
              <a:rPr lang="en-US" altLang="zh-CN"/>
              <a:t>└── go.sum</a:t>
            </a:r>
            <a:endParaRPr lang="en-US" altLang="zh-CN"/>
          </a:p>
          <a:p>
            <a:r>
              <a:rPr lang="en-US" altLang="zh-CN"/>
              <a:t>```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## 3. `software-distribution-platform-runner`(kubebuilder </a:t>
            </a:r>
            <a:r>
              <a:rPr lang="zh-CN" altLang="en-US"/>
              <a:t>标准结构)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```</a:t>
            </a:r>
            <a:endParaRPr lang="en-US" altLang="zh-CN"/>
          </a:p>
          <a:p>
            <a:r>
              <a:rPr lang="en-US" altLang="zh-CN"/>
              <a:t>software-distribution-platform-runner/</a:t>
            </a:r>
            <a:endParaRPr lang="en-US" altLang="zh-CN"/>
          </a:p>
          <a:p>
            <a:r>
              <a:rPr lang="en-US" altLang="zh-CN"/>
              <a:t>├── api/</a:t>
            </a:r>
            <a:endParaRPr lang="en-US" altLang="zh-CN"/>
          </a:p>
          <a:p>
            <a:r>
              <a:rPr lang="en-US" altLang="zh-CN"/>
              <a:t>│   └── v1alpha1/                # CRD </a:t>
            </a:r>
            <a:r>
              <a:rPr lang="zh-CN" altLang="en-US"/>
              <a:t>类型定义(</a:t>
            </a:r>
            <a:r>
              <a:rPr lang="en-US" altLang="zh-CN"/>
              <a:t>hub </a:t>
            </a:r>
            <a:r>
              <a:rPr lang="zh-CN" altLang="en-US"/>
              <a:t>也会依赖这个包)</a:t>
            </a:r>
            <a:endParaRPr lang="zh-CN" altLang="en-US"/>
          </a:p>
          <a:p>
            <a:r>
              <a:rPr lang="en-US" altLang="zh-CN"/>
              <a:t>│       ├── pipelinerun_types.go</a:t>
            </a:r>
            <a:endParaRPr lang="en-US" altLang="zh-CN"/>
          </a:p>
          <a:p>
            <a:r>
              <a:rPr lang="en-US" altLang="zh-CN"/>
              <a:t>│       ├── taskrun_types.go</a:t>
            </a:r>
            <a:endParaRPr lang="en-US" altLang="zh-CN"/>
          </a:p>
          <a:p>
            <a:r>
              <a:rPr lang="en-US" altLang="zh-CN"/>
              <a:t>│       ├── rollout_types.go</a:t>
            </a:r>
            <a:endParaRPr lang="en-US" altLang="zh-CN"/>
          </a:p>
          <a:p>
            <a:r>
              <a:rPr lang="en-US" altLang="zh-CN"/>
              <a:t>│       └── groupversion_info.go</a:t>
            </a:r>
            <a:endParaRPr lang="en-US" altLang="zh-CN"/>
          </a:p>
          <a:p>
            <a:r>
              <a:rPr lang="en-US" altLang="zh-CN"/>
              <a:t>├── internal/</a:t>
            </a:r>
            <a:endParaRPr lang="en-US" altLang="zh-CN"/>
          </a:p>
          <a:p>
            <a:r>
              <a:rPr lang="en-US" altLang="zh-CN"/>
              <a:t>│   └── controller/               # Reconciler </a:t>
            </a:r>
            <a:r>
              <a:rPr lang="zh-CN" altLang="en-US"/>
              <a:t>实现</a:t>
            </a:r>
            <a:endParaRPr lang="zh-CN" altLang="en-US"/>
          </a:p>
          <a:p>
            <a:r>
              <a:rPr lang="en-US" altLang="zh-CN"/>
              <a:t>│       ├── pipelinerun_controller.go</a:t>
            </a:r>
            <a:endParaRPr lang="en-US" altLang="zh-CN"/>
          </a:p>
          <a:p>
            <a:r>
              <a:rPr lang="en-US" altLang="zh-CN"/>
              <a:t>│       ├── taskrun_controller.go</a:t>
            </a:r>
            <a:endParaRPr lang="en-US" altLang="zh-CN"/>
          </a:p>
          <a:p>
            <a:r>
              <a:rPr lang="en-US" altLang="zh-CN"/>
              <a:t>│       └── rollout_controller.go</a:t>
            </a:r>
            <a:endParaRPr lang="en-US" altLang="zh-CN"/>
          </a:p>
          <a:p>
            <a:r>
              <a:rPr lang="en-US" altLang="zh-CN"/>
              <a:t>├── pkg/</a:t>
            </a:r>
            <a:endParaRPr lang="en-US" altLang="zh-CN"/>
          </a:p>
          <a:p>
            <a:r>
              <a:rPr lang="en-US" altLang="zh-CN"/>
              <a:t>│   ├── connector/                 # </a:t>
            </a:r>
            <a:r>
              <a:rPr lang="zh-CN" altLang="en-US"/>
              <a:t>与 </a:t>
            </a:r>
            <a:r>
              <a:rPr lang="en-US" altLang="zh-CN"/>
              <a:t>hub </a:t>
            </a:r>
            <a:r>
              <a:rPr lang="zh-CN" altLang="en-US"/>
              <a:t>的长连接客户端(</a:t>
            </a:r>
            <a:r>
              <a:rPr lang="en-US" altLang="zh-CN"/>
              <a:t>outbound)</a:t>
            </a:r>
            <a:endParaRPr lang="en-US" altLang="zh-CN"/>
          </a:p>
          <a:p>
            <a:r>
              <a:rPr lang="en-US" altLang="zh-CN"/>
              <a:t>│   │   ├── client.go</a:t>
            </a:r>
            <a:endParaRPr lang="en-US" altLang="zh-CN"/>
          </a:p>
          <a:p>
            <a:r>
              <a:rPr lang="en-US" altLang="zh-CN"/>
              <a:t>│   │   ├── reconnect.go           # </a:t>
            </a:r>
            <a:r>
              <a:rPr lang="zh-CN" altLang="en-US"/>
              <a:t>断线重连与任务对账逻辑</a:t>
            </a:r>
            <a:endParaRPr lang="zh-CN" altLang="en-US"/>
          </a:p>
          <a:p>
            <a:r>
              <a:rPr lang="en-US" altLang="zh-CN"/>
              <a:t>│   │   └── status_reporter.go     # </a:t>
            </a:r>
            <a:r>
              <a:rPr lang="zh-CN" altLang="en-US"/>
              <a:t>状态/日志回传</a:t>
            </a:r>
            <a:endParaRPr lang="zh-CN" altLang="en-US"/>
          </a:p>
          <a:p>
            <a:r>
              <a:rPr lang="en-US" altLang="zh-CN"/>
              <a:t>│   ├── executor/                  # Job/Pod </a:t>
            </a:r>
            <a:r>
              <a:rPr lang="zh-CN" altLang="en-US"/>
              <a:t>创建与监控封装</a:t>
            </a:r>
            <a:endParaRPr lang="zh-CN" altLang="en-US"/>
          </a:p>
          <a:p>
            <a:r>
              <a:rPr lang="en-US" altLang="zh-CN"/>
              <a:t>│   └── canary/                    # </a:t>
            </a:r>
            <a:r>
              <a:rPr lang="zh-CN" altLang="en-US"/>
              <a:t>灰度权重调整逻辑(</a:t>
            </a:r>
            <a:r>
              <a:rPr lang="en-US" altLang="zh-CN"/>
              <a:t>Deployment/Ingress)</a:t>
            </a:r>
            <a:endParaRPr lang="en-US" altLang="zh-CN"/>
          </a:p>
          <a:p>
            <a:r>
              <a:rPr lang="en-US" altLang="zh-CN"/>
              <a:t>├── cmd/</a:t>
            </a:r>
            <a:endParaRPr lang="en-US" altLang="zh-CN"/>
          </a:p>
          <a:p>
            <a:r>
              <a:rPr lang="en-US" altLang="zh-CN"/>
              <a:t>│   └── runner/</a:t>
            </a:r>
            <a:endParaRPr lang="en-US" altLang="zh-CN"/>
          </a:p>
          <a:p>
            <a:r>
              <a:rPr lang="en-US" altLang="zh-CN"/>
              <a:t>│       └── main.go                # </a:t>
            </a:r>
            <a:r>
              <a:rPr lang="zh-CN" altLang="en-US"/>
              <a:t>同时启动 </a:t>
            </a:r>
            <a:r>
              <a:rPr lang="en-US" altLang="zh-CN"/>
              <a:t>controller-runtime manager + connector</a:t>
            </a:r>
            <a:endParaRPr lang="en-US" altLang="zh-CN"/>
          </a:p>
          <a:p>
            <a:r>
              <a:rPr lang="en-US" altLang="zh-CN"/>
              <a:t>├── config/                        # kubebuilder </a:t>
            </a:r>
            <a:r>
              <a:rPr lang="zh-CN" altLang="en-US"/>
              <a:t>生成的 </a:t>
            </a:r>
            <a:r>
              <a:rPr lang="en-US" altLang="zh-CN"/>
              <a:t>K8s </a:t>
            </a:r>
            <a:r>
              <a:rPr lang="zh-CN" altLang="en-US"/>
              <a:t>资源清单</a:t>
            </a:r>
            <a:endParaRPr lang="zh-CN" altLang="en-US"/>
          </a:p>
          <a:p>
            <a:r>
              <a:rPr lang="en-US" altLang="zh-CN"/>
              <a:t>│   ├── crd/</a:t>
            </a:r>
            <a:endParaRPr lang="en-US" altLang="zh-CN"/>
          </a:p>
          <a:p>
            <a:r>
              <a:rPr lang="en-US" altLang="zh-CN"/>
              <a:t>│   │   └── bases/                 # CRD </a:t>
            </a:r>
            <a:r>
              <a:rPr lang="zh-CN" altLang="en-US"/>
              <a:t>的 </a:t>
            </a:r>
            <a:r>
              <a:rPr lang="en-US" altLang="zh-CN"/>
              <a:t>YAML </a:t>
            </a:r>
            <a:r>
              <a:rPr lang="zh-CN" altLang="en-US"/>
              <a:t>定义(自动生成)</a:t>
            </a:r>
            <a:endParaRPr lang="zh-CN" altLang="en-US"/>
          </a:p>
          <a:p>
            <a:r>
              <a:rPr lang="en-US" altLang="zh-CN"/>
              <a:t>│   ├── rbac/                      # ServiceAccount/Role/RoleBinding</a:t>
            </a:r>
            <a:endParaRPr lang="en-US" altLang="zh-CN"/>
          </a:p>
          <a:p>
            <a:r>
              <a:rPr lang="en-US" altLang="zh-CN"/>
              <a:t>│   ├── manager/                   # Deployment manifest</a:t>
            </a:r>
            <a:endParaRPr lang="en-US" altLang="zh-CN"/>
          </a:p>
          <a:p>
            <a:r>
              <a:rPr lang="en-US" altLang="zh-CN"/>
              <a:t>│   └── samples/                   # CR </a:t>
            </a:r>
            <a:r>
              <a:rPr lang="zh-CN" altLang="en-US"/>
              <a:t>示例</a:t>
            </a:r>
            <a:endParaRPr lang="zh-CN" altLang="en-US"/>
          </a:p>
          <a:p>
            <a:r>
              <a:rPr lang="en-US" altLang="zh-CN"/>
              <a:t>├── deploy/</a:t>
            </a:r>
            <a:endParaRPr lang="en-US" altLang="zh-CN"/>
          </a:p>
          <a:p>
            <a:r>
              <a:rPr lang="en-US" altLang="zh-CN"/>
              <a:t>│   └── helm/                      # </a:t>
            </a:r>
            <a:r>
              <a:rPr lang="zh-CN" altLang="en-US"/>
              <a:t>给厂商/客户集群安装用的 </a:t>
            </a:r>
            <a:r>
              <a:rPr lang="en-US" altLang="zh-CN"/>
              <a:t>Helm chart</a:t>
            </a:r>
            <a:endParaRPr lang="en-US" altLang="zh-CN"/>
          </a:p>
          <a:p>
            <a:r>
              <a:rPr lang="en-US" altLang="zh-CN"/>
              <a:t>├── test/</a:t>
            </a:r>
            <a:endParaRPr lang="en-US" altLang="zh-CN"/>
          </a:p>
          <a:p>
            <a:r>
              <a:rPr lang="en-US" altLang="zh-CN"/>
              <a:t>│   └── e2e/</a:t>
            </a:r>
            <a:endParaRPr lang="en-US" altLang="zh-CN"/>
          </a:p>
          <a:p>
            <a:r>
              <a:rPr lang="en-US" altLang="zh-CN"/>
              <a:t>├── Dockerfile</a:t>
            </a:r>
            <a:endParaRPr lang="en-US" altLang="zh-CN"/>
          </a:p>
          <a:p>
            <a:r>
              <a:rPr lang="en-US" altLang="zh-CN"/>
              <a:t>├── Makefile                       # kubebuilder </a:t>
            </a:r>
            <a:r>
              <a:rPr lang="zh-CN" altLang="en-US"/>
              <a:t>标准 </a:t>
            </a:r>
            <a:r>
              <a:rPr lang="en-US" altLang="zh-CN"/>
              <a:t>make targets(generate/manifests/deploy)</a:t>
            </a:r>
            <a:endParaRPr lang="en-US" altLang="zh-CN"/>
          </a:p>
          <a:p>
            <a:r>
              <a:rPr lang="en-US" altLang="zh-CN"/>
              <a:t>├── PROJECT                        # kubebuilder </a:t>
            </a:r>
            <a:r>
              <a:rPr lang="zh-CN" altLang="en-US"/>
              <a:t>项目元信息</a:t>
            </a:r>
            <a:endParaRPr lang="zh-CN" altLang="en-US"/>
          </a:p>
          <a:p>
            <a:r>
              <a:rPr lang="en-US" altLang="zh-CN"/>
              <a:t>├── go.mod</a:t>
            </a:r>
            <a:endParaRPr lang="en-US" altLang="zh-CN"/>
          </a:p>
          <a:p>
            <a:r>
              <a:rPr lang="en-US" altLang="zh-CN"/>
              <a:t>└── go.sum</a:t>
            </a:r>
            <a:endParaRPr lang="en-US" altLang="zh-CN"/>
          </a:p>
          <a:p>
            <a:r>
              <a:rPr lang="en-US" altLang="zh-CN"/>
              <a:t>```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## 几点补充说明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 **`hub` </a:t>
            </a:r>
            <a:r>
              <a:rPr lang="zh-CN" altLang="en-US"/>
              <a:t>依赖 `</a:t>
            </a:r>
            <a:r>
              <a:rPr lang="en-US" altLang="zh-CN"/>
              <a:t>runner`**:`hub/go.mod` </a:t>
            </a:r>
            <a:r>
              <a:rPr lang="zh-CN" altLang="en-US"/>
              <a:t>里会有一行 `</a:t>
            </a:r>
            <a:r>
              <a:rPr lang="en-US" altLang="zh-CN"/>
              <a:t>require github.com/yourorg/software-distribution-platform-runner/api v0.x.x`,</a:t>
            </a:r>
            <a:r>
              <a:rPr lang="zh-CN" altLang="en-US"/>
              <a:t>只依赖 `</a:t>
            </a:r>
            <a:r>
              <a:rPr lang="en-US" altLang="zh-CN"/>
              <a:t>api/` </a:t>
            </a:r>
            <a:r>
              <a:rPr lang="zh-CN" altLang="en-US"/>
              <a:t>这个轻量包,不会把整个 </a:t>
            </a:r>
            <a:r>
              <a:rPr lang="en-US" altLang="zh-CN"/>
              <a:t>runner </a:t>
            </a:r>
            <a:r>
              <a:rPr lang="zh-CN" altLang="en-US"/>
              <a:t>拉进来</a:t>
            </a:r>
            <a:endParaRPr lang="zh-CN" altLang="en-US"/>
          </a:p>
          <a:p>
            <a:r>
              <a:rPr lang="en-US" altLang="zh-CN"/>
              <a:t>- **`console` </a:t>
            </a:r>
            <a:r>
              <a:rPr lang="zh-CN" altLang="en-US"/>
              <a:t>的 `</a:t>
            </a:r>
            <a:r>
              <a:rPr lang="en-US" altLang="zh-CN"/>
              <a:t>types/`** </a:t>
            </a:r>
            <a:r>
              <a:rPr lang="zh-CN" altLang="en-US"/>
              <a:t>建议用 `</a:t>
            </a:r>
            <a:r>
              <a:rPr lang="en-US" altLang="zh-CN"/>
              <a:t>openapi-typescript` </a:t>
            </a:r>
            <a:r>
              <a:rPr lang="zh-CN" altLang="en-US"/>
              <a:t>之类工具从 </a:t>
            </a:r>
            <a:r>
              <a:rPr lang="en-US" altLang="zh-CN"/>
              <a:t>hub </a:t>
            </a:r>
            <a:r>
              <a:rPr lang="zh-CN" altLang="en-US"/>
              <a:t>的 </a:t>
            </a:r>
            <a:r>
              <a:rPr lang="en-US" altLang="zh-CN"/>
              <a:t>OpenAPI </a:t>
            </a:r>
            <a:r>
              <a:rPr lang="zh-CN" altLang="en-US"/>
              <a:t>文档自动生成,避免前后端字段手动对齐出错</a:t>
            </a:r>
            <a:endParaRPr lang="zh-CN" altLang="en-US"/>
          </a:p>
          <a:p>
            <a:r>
              <a:rPr lang="en-US" altLang="zh-CN"/>
              <a:t>- **`runner` </a:t>
            </a:r>
            <a:r>
              <a:rPr lang="zh-CN" altLang="en-US"/>
              <a:t>的 `</a:t>
            </a:r>
            <a:r>
              <a:rPr lang="en-US" altLang="zh-CN"/>
              <a:t>config/crd/bases/`** </a:t>
            </a:r>
            <a:r>
              <a:rPr lang="zh-CN" altLang="en-US"/>
              <a:t>是 `</a:t>
            </a:r>
            <a:r>
              <a:rPr lang="en-US" altLang="zh-CN"/>
              <a:t>make manifests` </a:t>
            </a:r>
            <a:r>
              <a:rPr lang="zh-CN" altLang="en-US"/>
              <a:t>自动生成的,不需要手写,改了 `</a:t>
            </a:r>
            <a:r>
              <a:rPr lang="en-US" altLang="zh-CN"/>
              <a:t>api/v1alpha1/*_types.go` </a:t>
            </a:r>
            <a:r>
              <a:rPr lang="zh-CN" altLang="en-US"/>
              <a:t>后跑一下 </a:t>
            </a:r>
            <a:r>
              <a:rPr lang="en-US" altLang="zh-CN"/>
              <a:t>kubebuilder </a:t>
            </a:r>
            <a:r>
              <a:rPr lang="zh-CN" altLang="en-US"/>
              <a:t>命令就会更新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如果你已经准备开工了,我可以帮你把 `</a:t>
            </a:r>
            <a:r>
              <a:rPr lang="en-US" altLang="zh-CN"/>
              <a:t>runner` </a:t>
            </a:r>
            <a:r>
              <a:rPr lang="zh-CN" altLang="en-US"/>
              <a:t>仓库的 `</a:t>
            </a:r>
            <a:r>
              <a:rPr lang="en-US" altLang="zh-CN"/>
              <a:t>api/v1alpha1/pipelinerun_types.go` </a:t>
            </a:r>
            <a:r>
              <a:rPr lang="zh-CN" altLang="en-US"/>
              <a:t>具体字段先写出来,这样三个仓库的接口契约就能提前定下来,后面并行开发不会互相卡住。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5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6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layered_architecture_overvie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180" y="864235"/>
            <a:ext cx="6585585" cy="57873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42925" y="31559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PingFang SC Semibold" panose="020B0400000000000000" charset="-122"/>
                <a:ea typeface="PingFang SC Semibold" panose="020B0400000000000000" charset="-122"/>
              </a:rPr>
              <a:t>逻辑</a:t>
            </a:r>
            <a:r>
              <a:rPr lang="zh-CN" altLang="en-US" sz="2400" b="1">
                <a:latin typeface="PingFang SC Semibold" panose="020B0400000000000000" charset="-122"/>
                <a:ea typeface="PingFang SC Semibold" panose="020B0400000000000000" charset="-122"/>
              </a:rPr>
              <a:t>五层架构</a:t>
            </a:r>
            <a:endParaRPr lang="zh-CN" altLang="en-US" sz="24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49390" y="1195070"/>
            <a:ext cx="5464810" cy="4338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ym typeface="+mn-ea"/>
              </a:rPr>
              <a:t>五层结构说明</a:t>
            </a:r>
            <a:endParaRPr lang="zh-CN" altLang="en-US" sz="1200"/>
          </a:p>
          <a:p>
            <a:endParaRPr lang="en-US" altLang="zh-CN" sz="1200"/>
          </a:p>
          <a:p>
            <a:r>
              <a:rPr lang="zh-CN" altLang="en-US" sz="1200">
                <a:sym typeface="+mn-ea"/>
              </a:rPr>
              <a:t>第一层 · </a:t>
            </a:r>
            <a:r>
              <a:rPr lang="en-US" altLang="zh-CN" sz="1200">
                <a:sym typeface="+mn-ea"/>
              </a:rPr>
              <a:t>Web </a:t>
            </a:r>
            <a:r>
              <a:rPr lang="zh-CN" altLang="en-US" sz="1200">
                <a:sym typeface="+mn-ea"/>
              </a:rPr>
              <a:t>控制台:用户唯一直接接触的界面,</a:t>
            </a:r>
            <a:r>
              <a:rPr lang="en-US" altLang="zh-CN" sz="1200">
                <a:sym typeface="+mn-ea"/>
              </a:rPr>
              <a:t>Vue3 </a:t>
            </a:r>
            <a:r>
              <a:rPr lang="zh-CN" altLang="en-US" sz="1200">
                <a:sym typeface="+mn-ea"/>
              </a:rPr>
              <a:t>做流水线可视化编排、审批操作、发布状态查看</a:t>
            </a:r>
            <a:endParaRPr lang="zh-CN" altLang="en-US" sz="1200"/>
          </a:p>
          <a:p>
            <a:endParaRPr lang="en-US" altLang="zh-CN" sz="1200"/>
          </a:p>
          <a:p>
            <a:r>
              <a:rPr lang="zh-CN" altLang="en-US" sz="1200">
                <a:sym typeface="+mn-ea"/>
              </a:rPr>
              <a:t>第二层 · 控制平面:平台的"大脑",不直接碰任何具体的 </a:t>
            </a:r>
            <a:r>
              <a:rPr lang="en-US" altLang="zh-CN" sz="1200">
                <a:sym typeface="+mn-ea"/>
              </a:rPr>
              <a:t>K8s </a:t>
            </a:r>
            <a:r>
              <a:rPr lang="zh-CN" altLang="en-US" sz="1200">
                <a:sym typeface="+mn-ea"/>
              </a:rPr>
              <a:t>集群,只做业务决策——谁能操作什么(权限)、流水线定义是什么(编排)、能不能继续往下走(审批)、这个环境该发到哪个集群(路由)</a:t>
            </a:r>
            <a:endParaRPr lang="zh-CN" altLang="en-US" sz="1200"/>
          </a:p>
          <a:p>
            <a:endParaRPr lang="en-US" altLang="zh-CN" sz="1200"/>
          </a:p>
          <a:p>
            <a:r>
              <a:rPr lang="zh-CN" altLang="en-US" sz="1200">
                <a:sym typeface="+mn-ea"/>
              </a:rPr>
              <a:t>第三层 · 长连接网关:控制平面和各集群之间唯一的通信纽带,所有集群的 </a:t>
            </a:r>
            <a:r>
              <a:rPr lang="en-US" altLang="zh-CN" sz="1200">
                <a:sym typeface="+mn-ea"/>
              </a:rPr>
              <a:t>Agent </a:t>
            </a:r>
            <a:r>
              <a:rPr lang="zh-CN" altLang="en-US" sz="1200">
                <a:sym typeface="+mn-ea"/>
              </a:rPr>
              <a:t>都主动连过来,网关做连接管理、消息路由、断线重连</a:t>
            </a:r>
            <a:endParaRPr lang="zh-CN" altLang="en-US" sz="1200"/>
          </a:p>
          <a:p>
            <a:endParaRPr lang="en-US" altLang="zh-CN" sz="1200"/>
          </a:p>
          <a:p>
            <a:r>
              <a:rPr lang="zh-CN" altLang="en-US" sz="1200">
                <a:sym typeface="+mn-ea"/>
              </a:rPr>
              <a:t>第四层 · 集群接入层:真正跑在每个目标 </a:t>
            </a:r>
            <a:r>
              <a:rPr lang="en-US" altLang="zh-CN" sz="1200">
                <a:sym typeface="+mn-ea"/>
              </a:rPr>
              <a:t>K8s </a:t>
            </a:r>
            <a:r>
              <a:rPr lang="zh-CN" altLang="en-US" sz="1200">
                <a:sym typeface="+mn-ea"/>
              </a:rPr>
              <a:t>集群里的组件,</a:t>
            </a:r>
            <a:r>
              <a:rPr lang="en-US" altLang="zh-CN" sz="1200">
                <a:sym typeface="+mn-ea"/>
              </a:rPr>
              <a:t>Agent </a:t>
            </a:r>
            <a:r>
              <a:rPr lang="zh-CN" altLang="en-US" sz="1200">
                <a:sym typeface="+mn-ea"/>
              </a:rPr>
              <a:t>负责通信,</a:t>
            </a:r>
            <a:r>
              <a:rPr lang="en-US" altLang="zh-CN" sz="1200">
                <a:sym typeface="+mn-ea"/>
              </a:rPr>
              <a:t>Operator </a:t>
            </a:r>
            <a:r>
              <a:rPr lang="zh-CN" altLang="en-US" sz="1200">
                <a:sym typeface="+mn-ea"/>
              </a:rPr>
              <a:t>负责把控制平面下发的意图(</a:t>
            </a:r>
            <a:r>
              <a:rPr lang="en-US" altLang="zh-CN" sz="1200">
                <a:sym typeface="+mn-ea"/>
              </a:rPr>
              <a:t>CR)</a:t>
            </a:r>
            <a:r>
              <a:rPr lang="zh-CN" altLang="en-US" sz="1200">
                <a:sym typeface="+mn-ea"/>
              </a:rPr>
              <a:t>转化为实际动作,</a:t>
            </a:r>
            <a:r>
              <a:rPr lang="en-US" altLang="zh-CN" sz="1200">
                <a:sym typeface="+mn-ea"/>
              </a:rPr>
              <a:t>CRD </a:t>
            </a:r>
            <a:r>
              <a:rPr lang="zh-CN" altLang="en-US" sz="1200">
                <a:sym typeface="+mn-ea"/>
              </a:rPr>
              <a:t>作为声明式的"期望状态"存储在该集群的 </a:t>
            </a:r>
            <a:r>
              <a:rPr lang="en-US" altLang="zh-CN" sz="1200">
                <a:sym typeface="+mn-ea"/>
              </a:rPr>
              <a:t>etcd </a:t>
            </a:r>
            <a:r>
              <a:rPr lang="zh-CN" altLang="en-US" sz="1200">
                <a:sym typeface="+mn-ea"/>
              </a:rPr>
              <a:t>里</a:t>
            </a:r>
            <a:endParaRPr lang="zh-CN" altLang="en-US" sz="1200"/>
          </a:p>
          <a:p>
            <a:endParaRPr lang="en-US" altLang="zh-CN" sz="1200"/>
          </a:p>
          <a:p>
            <a:r>
              <a:rPr lang="zh-CN" altLang="en-US" sz="1200">
                <a:sym typeface="+mn-ea"/>
              </a:rPr>
              <a:t>第五层 · </a:t>
            </a:r>
            <a:r>
              <a:rPr lang="en-US" altLang="zh-CN" sz="1200">
                <a:sym typeface="+mn-ea"/>
              </a:rPr>
              <a:t>K8s </a:t>
            </a:r>
            <a:r>
              <a:rPr lang="zh-CN" altLang="en-US" sz="1200">
                <a:sym typeface="+mn-ea"/>
              </a:rPr>
              <a:t>基础设施:底层真实资源,不管是阿里云、腾讯云、</a:t>
            </a:r>
            <a:r>
              <a:rPr lang="en-US" altLang="zh-CN" sz="1200">
                <a:sym typeface="+mn-ea"/>
              </a:rPr>
              <a:t>AWS </a:t>
            </a:r>
            <a:r>
              <a:rPr lang="zh-CN" altLang="en-US" sz="1200">
                <a:sym typeface="+mn-ea"/>
              </a:rPr>
              <a:t>还是自建,只要跑着一个第四层的 </a:t>
            </a:r>
            <a:r>
              <a:rPr lang="en-US" altLang="zh-CN" sz="1200">
                <a:sym typeface="+mn-ea"/>
              </a:rPr>
              <a:t>Agent+Operator,</a:t>
            </a:r>
            <a:r>
              <a:rPr lang="zh-CN" altLang="en-US" sz="1200">
                <a:sym typeface="+mn-ea"/>
              </a:rPr>
              <a:t>就能被纳管</a:t>
            </a:r>
            <a:endParaRPr lang="zh-CN" altLang="en-US" sz="1200"/>
          </a:p>
          <a:p>
            <a:endParaRPr lang="en-US" altLang="zh-CN" sz="1200"/>
          </a:p>
          <a:p>
            <a:r>
              <a:rPr lang="zh-CN" altLang="en-US" sz="1200">
                <a:sym typeface="+mn-ea"/>
              </a:rPr>
              <a:t>这张图的核心设计原则是:层与层之间职责单向依赖、状态通过声明式 </a:t>
            </a:r>
            <a:r>
              <a:rPr lang="en-US" altLang="zh-CN" sz="1200">
                <a:sym typeface="+mn-ea"/>
              </a:rPr>
              <a:t>CRD </a:t>
            </a:r>
            <a:r>
              <a:rPr lang="zh-CN" altLang="en-US" sz="1200">
                <a:sym typeface="+mn-ea"/>
              </a:rPr>
              <a:t>解耦,不管未来接入多少家厂商、多少个 </a:t>
            </a:r>
            <a:r>
              <a:rPr lang="en-US" altLang="zh-CN" sz="1200">
                <a:sym typeface="+mn-ea"/>
              </a:rPr>
              <a:t>region,</a:t>
            </a:r>
            <a:r>
              <a:rPr lang="zh-CN" altLang="en-US" sz="1200">
                <a:sym typeface="+mn-ea"/>
              </a:rPr>
              <a:t>第一到第三层完全不用变,只需要在新集群里部署第四层组件即可接入。</a:t>
            </a:r>
            <a:endParaRPr lang="zh-CN" altLang="en-US" sz="1200"/>
          </a:p>
          <a:p>
            <a:endParaRPr lang="zh-CN" altLang="en-US" sz="1200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42925" y="31559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PingFang SC Semibold" panose="020B0400000000000000" charset="-122"/>
                <a:ea typeface="PingFang SC Semibold" panose="020B0400000000000000" charset="-122"/>
              </a:rPr>
              <a:t>多</a:t>
            </a:r>
            <a:r>
              <a:rPr lang="zh-CN" altLang="en-US" sz="2400" b="1">
                <a:latin typeface="PingFang SC Semibold" panose="020B0400000000000000" charset="-122"/>
                <a:ea typeface="PingFang SC Semibold" panose="020B0400000000000000" charset="-122"/>
              </a:rPr>
              <a:t>云架构</a:t>
            </a:r>
            <a:endParaRPr lang="zh-CN" altLang="en-US" sz="24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pic>
        <p:nvPicPr>
          <p:cNvPr id="2" name="图片 1" descr="multi_vendor_multi_region_hub_spok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745" y="1276350"/>
            <a:ext cx="7318375" cy="43046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631305" y="1527810"/>
            <a:ext cx="5018405" cy="2491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ym typeface="+mn-ea"/>
              </a:rPr>
              <a:t>每个目标集群里部署一个轻量 </a:t>
            </a:r>
            <a:r>
              <a:rPr lang="en-US" altLang="zh-CN" sz="1200">
                <a:sym typeface="+mn-ea"/>
              </a:rPr>
              <a:t>Agent(Go </a:t>
            </a:r>
            <a:r>
              <a:rPr lang="zh-CN" altLang="en-US" sz="1200">
                <a:sym typeface="+mn-ea"/>
              </a:rPr>
              <a:t>编写,以 </a:t>
            </a:r>
            <a:r>
              <a:rPr lang="en-US" altLang="zh-CN" sz="1200">
                <a:sym typeface="+mn-ea"/>
              </a:rPr>
              <a:t>Deployment </a:t>
            </a:r>
            <a:r>
              <a:rPr lang="zh-CN" altLang="en-US" sz="1200">
                <a:sym typeface="+mn-ea"/>
              </a:rPr>
              <a:t>形式跑在集群内,用自己的 </a:t>
            </a:r>
            <a:r>
              <a:rPr lang="en-US" altLang="zh-CN" sz="1200">
                <a:sym typeface="+mn-ea"/>
              </a:rPr>
              <a:t>ServiceAccount),Agent </a:t>
            </a:r>
            <a:r>
              <a:rPr lang="zh-CN" altLang="en-US" sz="1200">
                <a:sym typeface="+mn-ea"/>
              </a:rPr>
              <a:t>主动发起 </a:t>
            </a:r>
            <a:r>
              <a:rPr lang="en-US" altLang="zh-CN" sz="1200">
                <a:sym typeface="+mn-ea"/>
              </a:rPr>
              <a:t>outbound </a:t>
            </a:r>
            <a:r>
              <a:rPr lang="zh-CN" altLang="en-US" sz="1200">
                <a:sym typeface="+mn-ea"/>
              </a:rPr>
              <a:t>长连接(</a:t>
            </a:r>
            <a:r>
              <a:rPr lang="en-US" altLang="zh-CN" sz="1200">
                <a:sym typeface="+mn-ea"/>
              </a:rPr>
              <a:t>gRPC </a:t>
            </a:r>
            <a:r>
              <a:rPr lang="zh-CN" altLang="en-US" sz="1200">
                <a:sym typeface="+mn-ea"/>
              </a:rPr>
              <a:t>双向流或 </a:t>
            </a:r>
            <a:r>
              <a:rPr lang="en-US" altLang="zh-CN" sz="1200">
                <a:sym typeface="+mn-ea"/>
              </a:rPr>
              <a:t>WebSocket)</a:t>
            </a:r>
            <a:r>
              <a:rPr lang="zh-CN" altLang="en-US" sz="1200">
                <a:sym typeface="+mn-ea"/>
              </a:rPr>
              <a:t>连回控制平面 </a:t>
            </a:r>
            <a:r>
              <a:rPr lang="en-US" altLang="zh-CN" sz="1200">
                <a:sym typeface="+mn-ea"/>
              </a:rPr>
              <a:t>Hub。</a:t>
            </a:r>
            <a:r>
              <a:rPr lang="zh-CN" altLang="en-US" sz="1200">
                <a:sym typeface="+mn-ea"/>
              </a:rPr>
              <a:t>这样带来几个好处:</a:t>
            </a:r>
            <a:endParaRPr lang="zh-CN" altLang="en-US" sz="1200"/>
          </a:p>
          <a:p>
            <a:endParaRPr lang="en-US" altLang="zh-CN" sz="120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1200">
                <a:sym typeface="+mn-ea"/>
              </a:rPr>
              <a:t>不需要对外暴露各集群的 </a:t>
            </a:r>
            <a:r>
              <a:rPr lang="en-US" altLang="zh-CN" sz="1200">
                <a:sym typeface="+mn-ea"/>
              </a:rPr>
              <a:t>K8s API Server,</a:t>
            </a:r>
            <a:r>
              <a:rPr lang="zh-CN" altLang="en-US" sz="1200">
                <a:sym typeface="+mn-ea"/>
              </a:rPr>
              <a:t>不用打通复杂的 </a:t>
            </a:r>
            <a:r>
              <a:rPr lang="en-US" altLang="zh-CN" sz="1200">
                <a:sym typeface="+mn-ea"/>
              </a:rPr>
              <a:t>VPN/</a:t>
            </a:r>
            <a:r>
              <a:rPr lang="zh-CN" altLang="en-US" sz="1200">
                <a:sym typeface="+mn-ea"/>
              </a:rPr>
              <a:t>专线,只要 </a:t>
            </a:r>
            <a:r>
              <a:rPr lang="en-US" altLang="zh-CN" sz="1200">
                <a:sym typeface="+mn-ea"/>
              </a:rPr>
              <a:t>Agent </a:t>
            </a:r>
            <a:r>
              <a:rPr lang="zh-CN" altLang="en-US" sz="1200">
                <a:sym typeface="+mn-ea"/>
              </a:rPr>
              <a:t>能访问到 </a:t>
            </a:r>
            <a:r>
              <a:rPr lang="en-US" altLang="zh-CN" sz="1200">
                <a:sym typeface="+mn-ea"/>
              </a:rPr>
              <a:t>Hub </a:t>
            </a:r>
            <a:r>
              <a:rPr lang="zh-CN" altLang="en-US" sz="1200">
                <a:sym typeface="+mn-ea"/>
              </a:rPr>
              <a:t>的公网地址即可</a:t>
            </a:r>
            <a:endParaRPr lang="zh-CN" altLang="en-US" sz="120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1200">
                <a:sym typeface="+mn-ea"/>
              </a:rPr>
              <a:t>不需要在控制平面集中存储各厂商集群的 </a:t>
            </a:r>
            <a:r>
              <a:rPr lang="en-US" altLang="zh-CN" sz="1200">
                <a:sym typeface="+mn-ea"/>
              </a:rPr>
              <a:t>kubeconfig/</a:t>
            </a:r>
            <a:r>
              <a:rPr lang="zh-CN" altLang="en-US" sz="1200">
                <a:sym typeface="+mn-ea"/>
              </a:rPr>
              <a:t>证书(安全风险大,而且不同厂商证书轮换机制不同),</a:t>
            </a:r>
            <a:r>
              <a:rPr lang="en-US" altLang="zh-CN" sz="1200">
                <a:sym typeface="+mn-ea"/>
              </a:rPr>
              <a:t>Agent </a:t>
            </a:r>
            <a:r>
              <a:rPr lang="zh-CN" altLang="en-US" sz="1200">
                <a:sym typeface="+mn-ea"/>
              </a:rPr>
              <a:t>用本地 </a:t>
            </a:r>
            <a:r>
              <a:rPr lang="en-US" altLang="zh-CN" sz="1200">
                <a:sym typeface="+mn-ea"/>
              </a:rPr>
              <a:t>InCluster </a:t>
            </a:r>
            <a:r>
              <a:rPr lang="zh-CN" altLang="en-US" sz="1200">
                <a:sym typeface="+mn-ea"/>
              </a:rPr>
              <a:t>权限即可</a:t>
            </a:r>
            <a:endParaRPr lang="zh-CN" altLang="en-US" sz="120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zh-CN" altLang="en-US" sz="1200">
                <a:sym typeface="+mn-ea"/>
              </a:rPr>
              <a:t>类似 </a:t>
            </a:r>
            <a:r>
              <a:rPr lang="en-US" altLang="zh-CN" sz="1200">
                <a:sym typeface="+mn-ea"/>
              </a:rPr>
              <a:t>Argo CD </a:t>
            </a:r>
            <a:r>
              <a:rPr lang="zh-CN" altLang="en-US" sz="1200">
                <a:sym typeface="+mn-ea"/>
              </a:rPr>
              <a:t>的 </a:t>
            </a:r>
            <a:r>
              <a:rPr lang="en-US" altLang="zh-CN" sz="1200">
                <a:sym typeface="+mn-ea"/>
              </a:rPr>
              <a:t>application-controller、Rancher </a:t>
            </a:r>
            <a:r>
              <a:rPr lang="zh-CN" altLang="en-US" sz="1200">
                <a:sym typeface="+mn-ea"/>
              </a:rPr>
              <a:t>的 </a:t>
            </a:r>
            <a:r>
              <a:rPr lang="en-US" altLang="zh-CN" sz="1200">
                <a:sym typeface="+mn-ea"/>
              </a:rPr>
              <a:t>cluster-agent,</a:t>
            </a:r>
            <a:r>
              <a:rPr lang="zh-CN" altLang="en-US" sz="1200">
                <a:sym typeface="+mn-ea"/>
              </a:rPr>
              <a:t>是多集群管理的标准范式</a:t>
            </a:r>
            <a:endParaRPr lang="zh-CN" altLang="en-US" sz="1200"/>
          </a:p>
          <a:p>
            <a:endParaRPr lang="zh-CN" altLang="en-US" sz="1200"/>
          </a:p>
          <a:p>
            <a:endParaRPr lang="zh-CN" altLang="en-US" sz="1200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42925" y="31559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latin typeface="PingFang SC Semibold" panose="020B0400000000000000" charset="-122"/>
                <a:ea typeface="PingFang SC Semibold" panose="020B0400000000000000" charset="-122"/>
              </a:rPr>
              <a:t>Operator</a:t>
            </a:r>
            <a:r>
              <a:rPr lang="zh-CN" altLang="en-US" sz="2400" b="1">
                <a:latin typeface="PingFang SC Semibold" panose="020B0400000000000000" charset="-122"/>
                <a:ea typeface="PingFang SC Semibold" panose="020B0400000000000000" charset="-122"/>
              </a:rPr>
              <a:t>设计</a:t>
            </a:r>
            <a:endParaRPr lang="zh-CN" altLang="en-US" sz="24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pic>
        <p:nvPicPr>
          <p:cNvPr id="4" name="图片 3" descr="operator_reconcile_flo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515" y="1297940"/>
            <a:ext cx="5624830" cy="49631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42925" y="31559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PingFang SC Semibold" panose="020B0400000000000000" charset="-122"/>
                <a:ea typeface="PingFang SC Semibold" panose="020B0400000000000000" charset="-122"/>
              </a:rPr>
              <a:t>流水线</a:t>
            </a:r>
            <a:r>
              <a:rPr lang="zh-CN" altLang="en-US" sz="2400" b="1">
                <a:latin typeface="PingFang SC Semibold" panose="020B0400000000000000" charset="-122"/>
                <a:ea typeface="PingFang SC Semibold" panose="020B0400000000000000" charset="-122"/>
              </a:rPr>
              <a:t>设计</a:t>
            </a:r>
            <a:endParaRPr lang="zh-CN" altLang="en-US" sz="24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pic>
        <p:nvPicPr>
          <p:cNvPr id="2" name="图片 1" descr="build_pipeline_templat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04035" y="1066800"/>
            <a:ext cx="4929505" cy="2957830"/>
          </a:xfrm>
          <a:prstGeom prst="rect">
            <a:avLst/>
          </a:prstGeom>
        </p:spPr>
      </p:pic>
      <p:pic>
        <p:nvPicPr>
          <p:cNvPr id="3" name="图片 2" descr="release_pipeline_stag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5970"/>
            <a:ext cx="5010785" cy="3816985"/>
          </a:xfrm>
          <a:prstGeom prst="rect">
            <a:avLst/>
          </a:prstGeom>
        </p:spPr>
      </p:pic>
      <p:pic>
        <p:nvPicPr>
          <p:cNvPr id="6" name="图片 5" descr="deploy_stage_parallel_subtask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2890" y="4520565"/>
            <a:ext cx="5676265" cy="2337435"/>
          </a:xfrm>
          <a:prstGeom prst="rect">
            <a:avLst/>
          </a:prstGeom>
        </p:spPr>
      </p:pic>
      <p:pic>
        <p:nvPicPr>
          <p:cNvPr id="7" name="图片 6" descr="script_task_job_struct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7170" y="927735"/>
            <a:ext cx="4476115" cy="2501265"/>
          </a:xfrm>
          <a:prstGeom prst="rect">
            <a:avLst/>
          </a:prstGeom>
        </p:spPr>
      </p:pic>
      <p:pic>
        <p:nvPicPr>
          <p:cNvPr id="8" name="图片 7" descr="cross_stage_artifact_flo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5255" y="3835400"/>
            <a:ext cx="5856605" cy="258381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42925" y="31559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PingFang SC Semibold" panose="020B0400000000000000" charset="-122"/>
                <a:ea typeface="PingFang SC Semibold" panose="020B0400000000000000" charset="-122"/>
              </a:rPr>
              <a:t>代码</a:t>
            </a:r>
            <a:r>
              <a:rPr lang="zh-CN" altLang="en-US" sz="2400" b="1">
                <a:latin typeface="PingFang SC Semibold" panose="020B0400000000000000" charset="-122"/>
                <a:ea typeface="PingFang SC Semibold" panose="020B0400000000000000" charset="-122"/>
              </a:rPr>
              <a:t>库</a:t>
            </a:r>
            <a:endParaRPr lang="zh-CN" altLang="en-US" sz="24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7095" y="1304925"/>
            <a:ext cx="52095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software-distribution-platform-</a:t>
            </a:r>
            <a:r>
              <a:rPr lang="en-US" altLang="zh-CN"/>
              <a:t>console</a:t>
            </a:r>
            <a:endParaRPr lang="en-US" altLang="zh-CN"/>
          </a:p>
          <a:p>
            <a:r>
              <a:rPr lang="en-US" altLang="zh-CN">
                <a:sym typeface="+mn-ea"/>
              </a:rPr>
              <a:t>software-distribution-platform-hub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software-distribution-platform-runner</a:t>
            </a:r>
            <a:endParaRPr lang="en-US" altLang="zh-CN"/>
          </a:p>
        </p:txBody>
      </p:sp>
      <p:graphicFrame>
        <p:nvGraphicFramePr>
          <p:cNvPr id="7" name="表格 6"/>
          <p:cNvGraphicFramePr/>
          <p:nvPr/>
        </p:nvGraphicFramePr>
        <p:xfrm>
          <a:off x="807720" y="2364105"/>
          <a:ext cx="85344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/>
                <a:gridCol w="42672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仓库名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对应组件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software-distribution-platform-console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Vue3 </a:t>
                      </a:r>
                      <a:r>
                        <a:rPr lang="zh-CN" altLang="en-US" sz="1800">
                          <a:sym typeface="+mn-ea"/>
                        </a:rPr>
                        <a:t>前端控制台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software-distribution-platform-hub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Go+Gin </a:t>
                      </a:r>
                      <a:r>
                        <a:rPr lang="zh-CN" altLang="en-US" sz="1800">
                          <a:sym typeface="+mn-ea"/>
                        </a:rPr>
                        <a:t>控制平面</a:t>
                      </a:r>
                      <a:r>
                        <a:rPr lang="en-US" altLang="zh-CN" sz="1800">
                          <a:sym typeface="+mn-ea"/>
                        </a:rPr>
                        <a:t>(</a:t>
                      </a:r>
                      <a:r>
                        <a:rPr lang="zh-CN" altLang="en-US" sz="1800">
                          <a:sym typeface="+mn-ea"/>
                        </a:rPr>
                        <a:t>多租户</a:t>
                      </a:r>
                      <a:r>
                        <a:rPr lang="en-US" altLang="zh-CN" sz="1800">
                          <a:sym typeface="+mn-ea"/>
                        </a:rPr>
                        <a:t>/</a:t>
                      </a:r>
                      <a:r>
                        <a:rPr lang="zh-CN" altLang="en-US" sz="1800">
                          <a:sym typeface="+mn-ea"/>
                        </a:rPr>
                        <a:t>编排</a:t>
                      </a:r>
                      <a:r>
                        <a:rPr lang="en-US" altLang="zh-CN" sz="1800">
                          <a:sym typeface="+mn-ea"/>
                        </a:rPr>
                        <a:t>/</a:t>
                      </a:r>
                      <a:r>
                        <a:rPr lang="zh-CN" altLang="en-US" sz="1800">
                          <a:sym typeface="+mn-ea"/>
                        </a:rPr>
                        <a:t>审批</a:t>
                      </a:r>
                      <a:r>
                        <a:rPr lang="en-US" altLang="zh-CN" sz="1800">
                          <a:sym typeface="+mn-ea"/>
                        </a:rPr>
                        <a:t>/</a:t>
                      </a:r>
                      <a:r>
                        <a:rPr lang="zh-CN" altLang="en-US" sz="1800">
                          <a:sym typeface="+mn-ea"/>
                        </a:rPr>
                        <a:t>集群路由</a:t>
                      </a:r>
                      <a:r>
                        <a:rPr lang="en-US" altLang="zh-CN" sz="1800">
                          <a:sym typeface="+mn-ea"/>
                        </a:rPr>
                        <a:t>)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software-distribution-platform-runner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Cluster Agent + Operator(</a:t>
                      </a:r>
                      <a:r>
                        <a:rPr lang="zh-CN" altLang="en-US" sz="1800">
                          <a:sym typeface="+mn-ea"/>
                        </a:rPr>
                        <a:t>跑在各目标 </a:t>
                      </a:r>
                      <a:r>
                        <a:rPr lang="en-US" altLang="zh-CN" sz="1800">
                          <a:sym typeface="+mn-ea"/>
                        </a:rPr>
                        <a:t>K8s </a:t>
                      </a:r>
                      <a:r>
                        <a:rPr lang="zh-CN" altLang="en-US" sz="1800">
                          <a:sym typeface="+mn-ea"/>
                        </a:rPr>
                        <a:t>集群里</a:t>
                      </a:r>
                      <a:r>
                        <a:rPr lang="en-US" altLang="zh-CN" sz="1800">
                          <a:sym typeface="+mn-ea"/>
                        </a:rPr>
                        <a:t>)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42925" y="315595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latin typeface="PingFang SC Semibold" panose="020B0400000000000000" charset="-122"/>
                <a:ea typeface="PingFang SC Semibold" panose="020B0400000000000000" charset="-122"/>
              </a:rPr>
              <a:t>代码</a:t>
            </a:r>
            <a:r>
              <a:rPr lang="zh-CN" altLang="en-US" sz="2400" b="1">
                <a:latin typeface="PingFang SC Semibold" panose="020B0400000000000000" charset="-122"/>
                <a:ea typeface="PingFang SC Semibold" panose="020B0400000000000000" charset="-122"/>
              </a:rPr>
              <a:t>库</a:t>
            </a:r>
            <a:endParaRPr lang="zh-CN" altLang="en-US" sz="24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1920" y="887730"/>
            <a:ext cx="4485005" cy="47694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>
                <a:sym typeface="+mn-ea"/>
              </a:rPr>
              <a:t>software-distribution-platform-console/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├── public/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├── src/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├── api/                    # </a:t>
            </a:r>
            <a:r>
              <a:rPr lang="zh-CN" altLang="en-US" sz="800">
                <a:sym typeface="+mn-ea"/>
              </a:rPr>
              <a:t>后端接口封装(对接 </a:t>
            </a:r>
            <a:r>
              <a:rPr lang="en-US" altLang="zh-CN" sz="800">
                <a:sym typeface="+mn-ea"/>
              </a:rPr>
              <a:t>hub </a:t>
            </a:r>
            <a:r>
              <a:rPr lang="zh-CN" altLang="en-US" sz="800">
                <a:sym typeface="+mn-ea"/>
              </a:rPr>
              <a:t>的 </a:t>
            </a:r>
            <a:r>
              <a:rPr lang="en-US" altLang="zh-CN" sz="800">
                <a:sym typeface="+mn-ea"/>
              </a:rPr>
              <a:t>REST API)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├── pipeline.ts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├── approval.ts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├── cluster.ts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└── auth.ts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├── assets/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├── components/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├── dag-editor/         # </a:t>
            </a:r>
            <a:r>
              <a:rPr lang="zh-CN" altLang="en-US" sz="800">
                <a:sym typeface="+mn-ea"/>
              </a:rPr>
              <a:t>可视化编排核心组件(拖拽 </a:t>
            </a:r>
            <a:r>
              <a:rPr lang="en-US" altLang="zh-CN" sz="800">
                <a:sym typeface="+mn-ea"/>
              </a:rPr>
              <a:t>DAG)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│   ├── DagCanvas.vue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│   ├── NodePanel.vue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│   └── EdgeConnector.vue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├── approval/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├── rollout-monitor/     # </a:t>
            </a:r>
            <a:r>
              <a:rPr lang="zh-CN" altLang="en-US" sz="800">
                <a:sym typeface="+mn-ea"/>
              </a:rPr>
              <a:t>灰度发布进度可视化</a:t>
            </a:r>
            <a:endParaRPr lang="zh-CN" altLang="en-US" sz="800"/>
          </a:p>
          <a:p>
            <a:r>
              <a:rPr lang="en-US" altLang="zh-CN" sz="800">
                <a:sym typeface="+mn-ea"/>
              </a:rPr>
              <a:t>│   │   └── common/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├── views/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├── pipelines/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├── clusters/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├── approvals/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├── environments/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└── settings/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├── stores/                 # Pinia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├── user.ts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├── pipeline.ts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└── tenant.ts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├── router/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├── composables/            # </a:t>
            </a:r>
            <a:r>
              <a:rPr lang="zh-CN" altLang="en-US" sz="800">
                <a:sym typeface="+mn-ea"/>
              </a:rPr>
              <a:t>可复用逻辑(如 </a:t>
            </a:r>
            <a:r>
              <a:rPr lang="en-US" altLang="zh-CN" sz="800">
                <a:sym typeface="+mn-ea"/>
              </a:rPr>
              <a:t>useWebSocketLog)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├── types/                  # </a:t>
            </a:r>
            <a:r>
              <a:rPr lang="zh-CN" altLang="en-US" sz="800">
                <a:sym typeface="+mn-ea"/>
              </a:rPr>
              <a:t>与后端共享的类型定义(可用 </a:t>
            </a:r>
            <a:r>
              <a:rPr lang="en-US" altLang="zh-CN" sz="800">
                <a:sym typeface="+mn-ea"/>
              </a:rPr>
              <a:t>openapi-typescript </a:t>
            </a:r>
            <a:r>
              <a:rPr lang="zh-CN" altLang="en-US" sz="800">
                <a:sym typeface="+mn-ea"/>
              </a:rPr>
              <a:t>生成)</a:t>
            </a:r>
            <a:endParaRPr lang="zh-CN" altLang="en-US" sz="800"/>
          </a:p>
          <a:p>
            <a:r>
              <a:rPr lang="en-US" altLang="zh-CN" sz="800">
                <a:sym typeface="+mn-ea"/>
              </a:rPr>
              <a:t>│   ├── App.vue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└── main.ts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├── .env.development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├── .env.production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├── vite.config.ts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├── tsconfig.json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└── package.json</a:t>
            </a:r>
            <a:endParaRPr lang="en-US" altLang="zh-CN" sz="800"/>
          </a:p>
          <a:p>
            <a:endParaRPr lang="zh-CN" altLang="en-US" sz="800"/>
          </a:p>
        </p:txBody>
      </p:sp>
      <p:sp>
        <p:nvSpPr>
          <p:cNvPr id="4" name="文本框 3"/>
          <p:cNvSpPr txBox="1"/>
          <p:nvPr/>
        </p:nvSpPr>
        <p:spPr>
          <a:xfrm>
            <a:off x="3660775" y="887730"/>
            <a:ext cx="4314190" cy="53848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>
                <a:sym typeface="+mn-ea"/>
              </a:rPr>
              <a:t>software-distribution-platform-hub/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├── cmd/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└── hub/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    └── main.go             # </a:t>
            </a:r>
            <a:r>
              <a:rPr lang="zh-CN" altLang="en-US" sz="800">
                <a:sym typeface="+mn-ea"/>
              </a:rPr>
              <a:t>入口:启动 </a:t>
            </a:r>
            <a:r>
              <a:rPr lang="en-US" altLang="zh-CN" sz="800">
                <a:sym typeface="+mn-ea"/>
              </a:rPr>
              <a:t>Gin server + </a:t>
            </a:r>
            <a:r>
              <a:rPr lang="zh-CN" altLang="en-US" sz="800">
                <a:sym typeface="+mn-ea"/>
              </a:rPr>
              <a:t>长连接网关</a:t>
            </a:r>
            <a:endParaRPr lang="zh-CN" altLang="en-US" sz="800"/>
          </a:p>
          <a:p>
            <a:r>
              <a:rPr lang="en-US" altLang="zh-CN" sz="800">
                <a:sym typeface="+mn-ea"/>
              </a:rPr>
              <a:t>├── internal/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├── handler/                # HTTP handler(Gin</a:t>
            </a:r>
            <a:r>
              <a:rPr lang="zh-CN" altLang="en-US" sz="800">
                <a:sym typeface="+mn-ea"/>
              </a:rPr>
              <a:t>路由层)</a:t>
            </a:r>
            <a:endParaRPr lang="zh-CN" altLang="en-US" sz="800"/>
          </a:p>
          <a:p>
            <a:r>
              <a:rPr lang="en-US" altLang="zh-CN" sz="800">
                <a:sym typeface="+mn-ea"/>
              </a:rPr>
              <a:t>│   │   ├── pipeline_handler.go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├── approval_handler.go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├── cluster_handler.go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└── auth_handler.go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├── service/                # </a:t>
            </a:r>
            <a:r>
              <a:rPr lang="zh-CN" altLang="en-US" sz="800">
                <a:sym typeface="+mn-ea"/>
              </a:rPr>
              <a:t>业务逻辑层</a:t>
            </a:r>
            <a:endParaRPr lang="zh-CN" altLang="en-US" sz="800"/>
          </a:p>
          <a:p>
            <a:r>
              <a:rPr lang="en-US" altLang="zh-CN" sz="800">
                <a:sym typeface="+mn-ea"/>
              </a:rPr>
              <a:t>│   │   ├── pipeline_service.go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├── approval_service.go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├── cluster_registry_service.go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└── tenant_service.go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├── repository/             # </a:t>
            </a:r>
            <a:r>
              <a:rPr lang="zh-CN" altLang="en-US" sz="800">
                <a:sym typeface="+mn-ea"/>
              </a:rPr>
              <a:t>数据访问层(</a:t>
            </a:r>
            <a:r>
              <a:rPr lang="en-US" altLang="zh-CN" sz="800">
                <a:sym typeface="+mn-ea"/>
              </a:rPr>
              <a:t>GORM/Ent)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├── pipeline_repo.go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├── run_repo.go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└── cluster_repo.go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├── gateway/                 # </a:t>
            </a:r>
            <a:r>
              <a:rPr lang="zh-CN" altLang="en-US" sz="800">
                <a:sym typeface="+mn-ea"/>
              </a:rPr>
              <a:t>与各集群 </a:t>
            </a:r>
            <a:r>
              <a:rPr lang="en-US" altLang="zh-CN" sz="800">
                <a:sym typeface="+mn-ea"/>
              </a:rPr>
              <a:t>Runner </a:t>
            </a:r>
            <a:r>
              <a:rPr lang="zh-CN" altLang="en-US" sz="800">
                <a:sym typeface="+mn-ea"/>
              </a:rPr>
              <a:t>的长连接网关</a:t>
            </a:r>
            <a:endParaRPr lang="zh-CN" altLang="en-US" sz="800"/>
          </a:p>
          <a:p>
            <a:r>
              <a:rPr lang="en-US" altLang="zh-CN" sz="800">
                <a:sym typeface="+mn-ea"/>
              </a:rPr>
              <a:t>│   │   ├── grpc_server.go       # </a:t>
            </a:r>
            <a:r>
              <a:rPr lang="zh-CN" altLang="en-US" sz="800">
                <a:sym typeface="+mn-ea"/>
              </a:rPr>
              <a:t>或 </a:t>
            </a:r>
            <a:r>
              <a:rPr lang="en-US" altLang="zh-CN" sz="800">
                <a:sym typeface="+mn-ea"/>
              </a:rPr>
              <a:t>websocket_server.go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├── connection_pool.go   # </a:t>
            </a:r>
            <a:r>
              <a:rPr lang="zh-CN" altLang="en-US" sz="800">
                <a:sym typeface="+mn-ea"/>
              </a:rPr>
              <a:t>维护每个集群的活跃连接</a:t>
            </a:r>
            <a:endParaRPr lang="zh-CN" altLang="en-US" sz="800"/>
          </a:p>
          <a:p>
            <a:r>
              <a:rPr lang="en-US" altLang="zh-CN" sz="800">
                <a:sym typeface="+mn-ea"/>
              </a:rPr>
              <a:t>│   │   └── dispatcher.go        # </a:t>
            </a:r>
            <a:r>
              <a:rPr lang="zh-CN" altLang="en-US" sz="800">
                <a:sym typeface="+mn-ea"/>
              </a:rPr>
              <a:t>任务下发路由逻辑</a:t>
            </a:r>
            <a:endParaRPr lang="zh-CN" altLang="en-US" sz="800"/>
          </a:p>
          <a:p>
            <a:r>
              <a:rPr lang="en-US" altLang="zh-CN" sz="800">
                <a:sym typeface="+mn-ea"/>
              </a:rPr>
              <a:t>│   ├── middleware/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├── auth.go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├── tenant_isolation.go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└── rbac.go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├── model/                   # </a:t>
            </a:r>
            <a:r>
              <a:rPr lang="zh-CN" altLang="en-US" sz="800">
                <a:sym typeface="+mn-ea"/>
              </a:rPr>
              <a:t>数据库模型</a:t>
            </a:r>
            <a:endParaRPr lang="zh-CN" altLang="en-US" sz="800"/>
          </a:p>
          <a:p>
            <a:r>
              <a:rPr lang="en-US" altLang="zh-CN" sz="800">
                <a:sym typeface="+mn-ea"/>
              </a:rPr>
              <a:t>│   └── config/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├── pkg/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├── dsl/                     # </a:t>
            </a:r>
            <a:r>
              <a:rPr lang="zh-CN" altLang="en-US" sz="800">
                <a:sym typeface="+mn-ea"/>
              </a:rPr>
              <a:t>流水线 </a:t>
            </a:r>
            <a:r>
              <a:rPr lang="en-US" altLang="zh-CN" sz="800">
                <a:sym typeface="+mn-ea"/>
              </a:rPr>
              <a:t>DSL </a:t>
            </a:r>
            <a:r>
              <a:rPr lang="zh-CN" altLang="en-US" sz="800">
                <a:sym typeface="+mn-ea"/>
              </a:rPr>
              <a:t>解析器(</a:t>
            </a:r>
            <a:r>
              <a:rPr lang="en-US" altLang="zh-CN" sz="800">
                <a:sym typeface="+mn-ea"/>
              </a:rPr>
              <a:t>YAML/JSON -&gt; DAG</a:t>
            </a:r>
            <a:r>
              <a:rPr lang="zh-CN" altLang="en-US" sz="800">
                <a:sym typeface="+mn-ea"/>
              </a:rPr>
              <a:t>结构)</a:t>
            </a:r>
            <a:endParaRPr lang="zh-CN" altLang="en-US" sz="800"/>
          </a:p>
          <a:p>
            <a:r>
              <a:rPr lang="en-US" altLang="zh-CN" sz="800">
                <a:sym typeface="+mn-ea"/>
              </a:rPr>
              <a:t>│   └── dagscheduler/            # DAG </a:t>
            </a:r>
            <a:r>
              <a:rPr lang="zh-CN" altLang="en-US" sz="800">
                <a:sym typeface="+mn-ea"/>
              </a:rPr>
              <a:t>拓扑排序/推进算法</a:t>
            </a:r>
            <a:endParaRPr lang="zh-CN" altLang="en-US" sz="800"/>
          </a:p>
          <a:p>
            <a:r>
              <a:rPr lang="en-US" altLang="zh-CN" sz="800">
                <a:sym typeface="+mn-ea"/>
              </a:rPr>
              <a:t>├── api/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└── proto/                   # </a:t>
            </a:r>
            <a:r>
              <a:rPr lang="zh-CN" altLang="en-US" sz="800">
                <a:sym typeface="+mn-ea"/>
              </a:rPr>
              <a:t>若用 </a:t>
            </a:r>
            <a:r>
              <a:rPr lang="en-US" altLang="zh-CN" sz="800">
                <a:sym typeface="+mn-ea"/>
              </a:rPr>
              <a:t>gRPC,</a:t>
            </a:r>
            <a:r>
              <a:rPr lang="zh-CN" altLang="en-US" sz="800">
                <a:sym typeface="+mn-ea"/>
              </a:rPr>
              <a:t>存放 .</a:t>
            </a:r>
            <a:r>
              <a:rPr lang="en-US" altLang="zh-CN" sz="800">
                <a:sym typeface="+mn-ea"/>
              </a:rPr>
              <a:t>proto </a:t>
            </a:r>
            <a:r>
              <a:rPr lang="zh-CN" altLang="en-US" sz="800">
                <a:sym typeface="+mn-ea"/>
              </a:rPr>
              <a:t>定义(</a:t>
            </a:r>
            <a:r>
              <a:rPr lang="en-US" altLang="zh-CN" sz="800">
                <a:sym typeface="+mn-ea"/>
              </a:rPr>
              <a:t>hub&lt;-&gt;runner </a:t>
            </a:r>
            <a:r>
              <a:rPr lang="zh-CN" altLang="en-US" sz="800">
                <a:sym typeface="+mn-ea"/>
              </a:rPr>
              <a:t>通信协议)</a:t>
            </a:r>
            <a:endParaRPr lang="zh-CN" altLang="en-US" sz="800"/>
          </a:p>
          <a:p>
            <a:r>
              <a:rPr lang="en-US" altLang="zh-CN" sz="800">
                <a:sym typeface="+mn-ea"/>
              </a:rPr>
              <a:t>├── migrations/                  # </a:t>
            </a:r>
            <a:r>
              <a:rPr lang="zh-CN" altLang="en-US" sz="800">
                <a:sym typeface="+mn-ea"/>
              </a:rPr>
              <a:t>数据库迁移脚本</a:t>
            </a:r>
            <a:endParaRPr lang="zh-CN" altLang="en-US" sz="800"/>
          </a:p>
          <a:p>
            <a:r>
              <a:rPr lang="en-US" altLang="zh-CN" sz="800">
                <a:sym typeface="+mn-ea"/>
              </a:rPr>
              <a:t>├── deploy/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├── Dockerfile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└── helm/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├── configs/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└── config.yaml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├── go.mod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└── go.sum</a:t>
            </a:r>
            <a:endParaRPr lang="en-US" altLang="zh-CN" sz="800"/>
          </a:p>
          <a:p>
            <a:endParaRPr lang="zh-CN" altLang="en-US" sz="800"/>
          </a:p>
        </p:txBody>
      </p:sp>
      <p:sp>
        <p:nvSpPr>
          <p:cNvPr id="6" name="文本框 5"/>
          <p:cNvSpPr txBox="1"/>
          <p:nvPr/>
        </p:nvSpPr>
        <p:spPr>
          <a:xfrm>
            <a:off x="7692390" y="775970"/>
            <a:ext cx="4314190" cy="47694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>
                <a:sym typeface="+mn-ea"/>
              </a:rPr>
              <a:t>software-distribution-platform-runner/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├── api/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└── v1alpha1/                # CRD </a:t>
            </a:r>
            <a:r>
              <a:rPr lang="zh-CN" altLang="en-US" sz="800">
                <a:sym typeface="+mn-ea"/>
              </a:rPr>
              <a:t>类型定义(</a:t>
            </a:r>
            <a:r>
              <a:rPr lang="en-US" altLang="zh-CN" sz="800">
                <a:sym typeface="+mn-ea"/>
              </a:rPr>
              <a:t>hub </a:t>
            </a:r>
            <a:r>
              <a:rPr lang="zh-CN" altLang="en-US" sz="800">
                <a:sym typeface="+mn-ea"/>
              </a:rPr>
              <a:t>也会依赖这个包)</a:t>
            </a:r>
            <a:endParaRPr lang="zh-CN" altLang="en-US" sz="800"/>
          </a:p>
          <a:p>
            <a:r>
              <a:rPr lang="en-US" altLang="zh-CN" sz="800">
                <a:sym typeface="+mn-ea"/>
              </a:rPr>
              <a:t>│       ├── pipelinerun_types.go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    ├── taskrun_types.go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    ├── rollout_types.go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    └── groupversion_info.go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├── internal/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└── controller/               # Reconciler </a:t>
            </a:r>
            <a:r>
              <a:rPr lang="zh-CN" altLang="en-US" sz="800">
                <a:sym typeface="+mn-ea"/>
              </a:rPr>
              <a:t>实现</a:t>
            </a:r>
            <a:endParaRPr lang="zh-CN" altLang="en-US" sz="800"/>
          </a:p>
          <a:p>
            <a:r>
              <a:rPr lang="en-US" altLang="zh-CN" sz="800">
                <a:sym typeface="+mn-ea"/>
              </a:rPr>
              <a:t>│       ├── pipelinerun_controller.go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    ├── taskrun_controller.go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    └── rollout_controller.go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├── pkg/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├── connector/                 # </a:t>
            </a:r>
            <a:r>
              <a:rPr lang="zh-CN" altLang="en-US" sz="800">
                <a:sym typeface="+mn-ea"/>
              </a:rPr>
              <a:t>与 </a:t>
            </a:r>
            <a:r>
              <a:rPr lang="en-US" altLang="zh-CN" sz="800">
                <a:sym typeface="+mn-ea"/>
              </a:rPr>
              <a:t>hub </a:t>
            </a:r>
            <a:r>
              <a:rPr lang="zh-CN" altLang="en-US" sz="800">
                <a:sym typeface="+mn-ea"/>
              </a:rPr>
              <a:t>的长连接客户端(</a:t>
            </a:r>
            <a:r>
              <a:rPr lang="en-US" altLang="zh-CN" sz="800">
                <a:sym typeface="+mn-ea"/>
              </a:rPr>
              <a:t>outbound)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├── client.go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├── reconnect.go           # </a:t>
            </a:r>
            <a:r>
              <a:rPr lang="zh-CN" altLang="en-US" sz="800">
                <a:sym typeface="+mn-ea"/>
              </a:rPr>
              <a:t>断线重连与任务对账逻辑</a:t>
            </a:r>
            <a:endParaRPr lang="zh-CN" altLang="en-US" sz="800"/>
          </a:p>
          <a:p>
            <a:r>
              <a:rPr lang="en-US" altLang="zh-CN" sz="800">
                <a:sym typeface="+mn-ea"/>
              </a:rPr>
              <a:t>│   │   └── status_reporter.go     # </a:t>
            </a:r>
            <a:r>
              <a:rPr lang="zh-CN" altLang="en-US" sz="800">
                <a:sym typeface="+mn-ea"/>
              </a:rPr>
              <a:t>状态/日志回传</a:t>
            </a:r>
            <a:endParaRPr lang="zh-CN" altLang="en-US" sz="800"/>
          </a:p>
          <a:p>
            <a:r>
              <a:rPr lang="en-US" altLang="zh-CN" sz="800">
                <a:sym typeface="+mn-ea"/>
              </a:rPr>
              <a:t>│   ├── executor/                  # Job/Pod </a:t>
            </a:r>
            <a:r>
              <a:rPr lang="zh-CN" altLang="en-US" sz="800">
                <a:sym typeface="+mn-ea"/>
              </a:rPr>
              <a:t>创建与监控封装</a:t>
            </a:r>
            <a:endParaRPr lang="zh-CN" altLang="en-US" sz="800"/>
          </a:p>
          <a:p>
            <a:r>
              <a:rPr lang="en-US" altLang="zh-CN" sz="800">
                <a:sym typeface="+mn-ea"/>
              </a:rPr>
              <a:t>│   └── canary/                    # </a:t>
            </a:r>
            <a:r>
              <a:rPr lang="zh-CN" altLang="en-US" sz="800">
                <a:sym typeface="+mn-ea"/>
              </a:rPr>
              <a:t>灰度权重调整逻辑(</a:t>
            </a:r>
            <a:r>
              <a:rPr lang="en-US" altLang="zh-CN" sz="800">
                <a:sym typeface="+mn-ea"/>
              </a:rPr>
              <a:t>Deployment/Ingress)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├── cmd/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└── runner/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    └── main.go                # </a:t>
            </a:r>
            <a:r>
              <a:rPr lang="zh-CN" altLang="en-US" sz="800">
                <a:sym typeface="+mn-ea"/>
              </a:rPr>
              <a:t>同时启动 </a:t>
            </a:r>
            <a:r>
              <a:rPr lang="en-US" altLang="zh-CN" sz="800">
                <a:sym typeface="+mn-ea"/>
              </a:rPr>
              <a:t>controller-runtime manager + connector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├── config/                        # kubebuilder </a:t>
            </a:r>
            <a:r>
              <a:rPr lang="zh-CN" altLang="en-US" sz="800">
                <a:sym typeface="+mn-ea"/>
              </a:rPr>
              <a:t>生成的 </a:t>
            </a:r>
            <a:r>
              <a:rPr lang="en-US" altLang="zh-CN" sz="800">
                <a:sym typeface="+mn-ea"/>
              </a:rPr>
              <a:t>K8s </a:t>
            </a:r>
            <a:r>
              <a:rPr lang="zh-CN" altLang="en-US" sz="800">
                <a:sym typeface="+mn-ea"/>
              </a:rPr>
              <a:t>资源清单</a:t>
            </a:r>
            <a:endParaRPr lang="zh-CN" altLang="en-US" sz="800"/>
          </a:p>
          <a:p>
            <a:r>
              <a:rPr lang="en-US" altLang="zh-CN" sz="800">
                <a:sym typeface="+mn-ea"/>
              </a:rPr>
              <a:t>│   ├── crd/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│   └── bases/                 # CRD </a:t>
            </a:r>
            <a:r>
              <a:rPr lang="zh-CN" altLang="en-US" sz="800">
                <a:sym typeface="+mn-ea"/>
              </a:rPr>
              <a:t>的 </a:t>
            </a:r>
            <a:r>
              <a:rPr lang="en-US" altLang="zh-CN" sz="800">
                <a:sym typeface="+mn-ea"/>
              </a:rPr>
              <a:t>YAML </a:t>
            </a:r>
            <a:r>
              <a:rPr lang="zh-CN" altLang="en-US" sz="800">
                <a:sym typeface="+mn-ea"/>
              </a:rPr>
              <a:t>定义(自动生成)</a:t>
            </a:r>
            <a:endParaRPr lang="zh-CN" altLang="en-US" sz="800"/>
          </a:p>
          <a:p>
            <a:r>
              <a:rPr lang="en-US" altLang="zh-CN" sz="800">
                <a:sym typeface="+mn-ea"/>
              </a:rPr>
              <a:t>│   ├── rbac/                      # ServiceAccount/Role/RoleBinding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├── manager/                   # Deployment manifest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└── samples/                   # CR </a:t>
            </a:r>
            <a:r>
              <a:rPr lang="zh-CN" altLang="en-US" sz="800">
                <a:sym typeface="+mn-ea"/>
              </a:rPr>
              <a:t>示例</a:t>
            </a:r>
            <a:endParaRPr lang="zh-CN" altLang="en-US" sz="800"/>
          </a:p>
          <a:p>
            <a:r>
              <a:rPr lang="en-US" altLang="zh-CN" sz="800">
                <a:sym typeface="+mn-ea"/>
              </a:rPr>
              <a:t>├── deploy/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└── helm/                      # </a:t>
            </a:r>
            <a:r>
              <a:rPr lang="zh-CN" altLang="en-US" sz="800">
                <a:sym typeface="+mn-ea"/>
              </a:rPr>
              <a:t>给厂商/客户集群安装用的 </a:t>
            </a:r>
            <a:r>
              <a:rPr lang="en-US" altLang="zh-CN" sz="800">
                <a:sym typeface="+mn-ea"/>
              </a:rPr>
              <a:t>Helm chart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├── test/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│   └── e2e/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├── Dockerfile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├── Makefile                       # kubebuilder </a:t>
            </a:r>
            <a:r>
              <a:rPr lang="zh-CN" altLang="en-US" sz="800">
                <a:sym typeface="+mn-ea"/>
              </a:rPr>
              <a:t>标准 </a:t>
            </a:r>
            <a:r>
              <a:rPr lang="en-US" altLang="zh-CN" sz="800">
                <a:sym typeface="+mn-ea"/>
              </a:rPr>
              <a:t>make targets(generate/manifests/deploy)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├── PROJECT                        # kubebuilder </a:t>
            </a:r>
            <a:r>
              <a:rPr lang="zh-CN" altLang="en-US" sz="800">
                <a:sym typeface="+mn-ea"/>
              </a:rPr>
              <a:t>项目元信息</a:t>
            </a:r>
            <a:endParaRPr lang="zh-CN" altLang="en-US" sz="800"/>
          </a:p>
          <a:p>
            <a:r>
              <a:rPr lang="en-US" altLang="zh-CN" sz="800">
                <a:sym typeface="+mn-ea"/>
              </a:rPr>
              <a:t>├── go.mod</a:t>
            </a:r>
            <a:endParaRPr lang="en-US" altLang="zh-CN" sz="800"/>
          </a:p>
          <a:p>
            <a:r>
              <a:rPr lang="en-US" altLang="zh-CN" sz="800">
                <a:sym typeface="+mn-ea"/>
              </a:rPr>
              <a:t>└── go.sum</a:t>
            </a:r>
            <a:endParaRPr lang="zh-CN" altLang="en-US" sz="800"/>
          </a:p>
        </p:txBody>
      </p:sp>
      <p:sp>
        <p:nvSpPr>
          <p:cNvPr id="8" name="文本框 7"/>
          <p:cNvSpPr txBox="1"/>
          <p:nvPr/>
        </p:nvSpPr>
        <p:spPr>
          <a:xfrm>
            <a:off x="-65405" y="6028055"/>
            <a:ext cx="122574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1200"/>
              <a:t>hub </a:t>
            </a:r>
            <a:r>
              <a:rPr lang="zh-CN" altLang="en-US" sz="1200"/>
              <a:t>依赖 </a:t>
            </a:r>
            <a:r>
              <a:rPr lang="en-US" altLang="zh-CN" sz="1200"/>
              <a:t>runner:hub/go.mod </a:t>
            </a:r>
            <a:r>
              <a:rPr lang="zh-CN" altLang="en-US" sz="1200"/>
              <a:t>里会有一行 </a:t>
            </a:r>
            <a:r>
              <a:rPr lang="en-US" altLang="zh-CN" sz="1200"/>
              <a:t>require github.com/yourorg/software-distribution-platform-runner/api v0.x.x,</a:t>
            </a:r>
            <a:r>
              <a:rPr lang="zh-CN" altLang="en-US" sz="1200"/>
              <a:t>只依赖 </a:t>
            </a:r>
            <a:r>
              <a:rPr lang="en-US" altLang="zh-CN" sz="1200"/>
              <a:t>api/ </a:t>
            </a:r>
            <a:r>
              <a:rPr lang="zh-CN" altLang="en-US" sz="1200"/>
              <a:t>这个轻量包,不会把整个 </a:t>
            </a:r>
            <a:r>
              <a:rPr lang="en-US" altLang="zh-CN" sz="1200"/>
              <a:t>runner </a:t>
            </a:r>
            <a:r>
              <a:rPr lang="zh-CN" altLang="en-US" sz="1200"/>
              <a:t>拉进来</a:t>
            </a:r>
            <a:endParaRPr lang="zh-CN" altLang="en-US" sz="120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1200"/>
              <a:t>console </a:t>
            </a:r>
            <a:r>
              <a:rPr lang="zh-CN" altLang="en-US" sz="1200"/>
              <a:t>的 </a:t>
            </a:r>
            <a:r>
              <a:rPr lang="en-US" altLang="zh-CN" sz="1200"/>
              <a:t>types/ </a:t>
            </a:r>
            <a:r>
              <a:rPr lang="zh-CN" altLang="en-US" sz="1200"/>
              <a:t>建议用 </a:t>
            </a:r>
            <a:r>
              <a:rPr lang="en-US" altLang="zh-CN" sz="1200"/>
              <a:t>openapi-typescript </a:t>
            </a:r>
            <a:r>
              <a:rPr lang="zh-CN" altLang="en-US" sz="1200"/>
              <a:t>之类工具从 </a:t>
            </a:r>
            <a:r>
              <a:rPr lang="en-US" altLang="zh-CN" sz="1200"/>
              <a:t>hub </a:t>
            </a:r>
            <a:r>
              <a:rPr lang="zh-CN" altLang="en-US" sz="1200"/>
              <a:t>的 </a:t>
            </a:r>
            <a:r>
              <a:rPr lang="en-US" altLang="zh-CN" sz="1200"/>
              <a:t>OpenAPI </a:t>
            </a:r>
            <a:r>
              <a:rPr lang="zh-CN" altLang="en-US" sz="1200"/>
              <a:t>文档自动生成,避免前后端字段手动对齐出错</a:t>
            </a:r>
            <a:endParaRPr lang="zh-CN" altLang="en-US" sz="1200"/>
          </a:p>
          <a:p>
            <a:pPr marL="171450" indent="-171450">
              <a:buFont typeface="Arial" panose="020B0604020202090204" pitchFamily="34" charset="0"/>
              <a:buChar char="•"/>
            </a:pPr>
            <a:r>
              <a:rPr lang="en-US" altLang="zh-CN" sz="1200"/>
              <a:t>runner </a:t>
            </a:r>
            <a:r>
              <a:rPr lang="zh-CN" altLang="en-US" sz="1200"/>
              <a:t>的 </a:t>
            </a:r>
            <a:r>
              <a:rPr lang="en-US" altLang="zh-CN" sz="1200"/>
              <a:t>config/crd/bases/ </a:t>
            </a:r>
            <a:r>
              <a:rPr lang="zh-CN" altLang="en-US" sz="1200"/>
              <a:t>是 </a:t>
            </a:r>
            <a:r>
              <a:rPr lang="en-US" altLang="zh-CN" sz="1200"/>
              <a:t>make manifests </a:t>
            </a:r>
            <a:r>
              <a:rPr lang="zh-CN" altLang="en-US" sz="1200"/>
              <a:t>自动生成的,不需要手写,改了 </a:t>
            </a:r>
            <a:r>
              <a:rPr lang="en-US" altLang="zh-CN" sz="1200"/>
              <a:t>api/v1alpha1/*_types.go </a:t>
            </a:r>
            <a:r>
              <a:rPr lang="zh-CN" altLang="en-US" sz="1200"/>
              <a:t>后跑一下 </a:t>
            </a:r>
            <a:r>
              <a:rPr lang="en-US" altLang="zh-CN" sz="1200"/>
              <a:t>kubebuilder </a:t>
            </a:r>
            <a:r>
              <a:rPr lang="zh-CN" altLang="en-US" sz="1200"/>
              <a:t>命令就会更新</a:t>
            </a:r>
            <a:endParaRPr lang="zh-CN" altLang="en-US" sz="12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5081</Words>
  <Application>WPS 演示</Application>
  <PresentationFormat>宽屏</PresentationFormat>
  <Paragraphs>180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PingFang SC Semibold</vt:lpstr>
      <vt:lpstr>苹方-简</vt:lpstr>
      <vt:lpstr>微软雅黑</vt:lpstr>
      <vt:lpstr>方正雅意黑 GB18030L2</vt:lpstr>
      <vt:lpstr>宋体</vt:lpstr>
      <vt:lpstr>Arial Unicode MS</vt:lpstr>
      <vt:lpstr>汉仪书宋二KW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</cp:lastModifiedBy>
  <cp:revision>175</cp:revision>
  <dcterms:created xsi:type="dcterms:W3CDTF">2026-08-10T08:23:08Z</dcterms:created>
  <dcterms:modified xsi:type="dcterms:W3CDTF">2026-08-10T08:23:08Z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2052-12.1.26035.26035</vt:lpwstr>
  </property>
  <property fmtid="{D5CDD505-2E9C-101B-9397-08002B2CF9AE}" pid="3" name="ICV">
    <vt:lpwstr>081AB6622213C6369935796A0B7F18BF_41</vt:lpwstr>
  </property>
</Properties>
</file>